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各位评委好，我们的项目叫知野，是面向乡村小学教师的课堂复盘数字员工。它从一节课的记录出发，把内容整理成教师可以审核、学生可以使用的材料，让每一节课成为下一次教学的依据。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节课结束，教学支持还没有结束。乡村小学教师还要整理课堂重点，准备补讲材料，跟进学生疑问。这些工作需要反复回看课堂记录，也需要把零散信息转化为明确的教学行动。知野从这个具体环节切入，让课后整理的成果进入教师工作台，等待教师审核和使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关注的是三个相互关联的断点。对教师来说，复盘和材料准备挤占精力。对学生来说，遇到不会的步骤时，需要适合当前理解程度的提示，练习后也需要表达自己的思路。对后续教学来说，作业和提问分散，难以连续利用。我们希望让课堂记录成为持续学习支持的依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为此，知野把流程连接起来。教师提交课堂录音与教学目标，AI 转写并生成草稿，教师核对、修改和确认发布，学生再进行复习、练习和提问。学生的学习反馈回到教师端，支持下一次补讲与任务安排。整个流程中，AI 承担整理，教师保留教学判断。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具体来看，教师输入课堂录音和补讲目标，系统生成可以继续编辑的教学草稿。学生复习卡承接课堂重点和自检问题，教师课堂报告整理课堂依据与教学建议，还可以衔接补讲教案和练习。页面展示的是当前产品原型。我们的设计重点，是让生成成果真正进入后续教学流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生成之后，教师首先要判断建议是否有依据。知野保留原始转写供教师核对，并将课堂事实与 AI 推断分开呈现。教师在课堂详情中查看转写、复习卡、报告和进度，核实建议与证据的关联，再决定是否采用。这一机制提供了可追溯的审核入口，材料质量仍需要教师检查。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教师审核是课堂内容到达学生之前的关键节点。AI 初稿可以编辑，教师可以核对、修改和取舍，并在发布前确认。页面展示的是未发布时的学生端，明确提示复习卡不可查看。只有教师确认发布后，学生才获得复习卡，课堂转写和教师报告不会公开。我们把生成与发布分开，让教师对最终教学内容保留决定权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发布之后，学生可以用复习卡和任务巩固课堂内容，答疑流程则通过分层提示、思路复述和变式练习支持理解。学生的完成情况汇总到教师端班级洞察，形成班级聚合的学习信号，再支持下一课的教师草稿。这个草稿不会自动推送，仍由教师决定如何使用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这些能力背后是一条有状态、有依据的工具工作流。本地 FunASR 将音频转成文本，系统依据课堂文本提取证据，完成结构化生成，随后等待教师审核。每步保留状态和错误原因，并提供失败步骤的重试路径。本地模式下，音频与题图由本机处理，所需文本用于大模型生成。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验证方面，项目 Day 08 的历史验收记录显示，一百八十一项前端测试、六十三项本地 AI 测试通过，类型检查和生产构建也通过。测试覆盖了无麦克风或空录音、缺少密钥、空转写和模型网络断开四类失败边界。现有证据支持原型的工程流程与异常边界检查。真实课堂的耗时、教师减负和学习提升仍待验证，我们没有把这些效果写成已经取得的结果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当前版本是同一浏览器内四端联动的演示原型，跨设备共享和正式账号认证尚未接入。下一步先用获准且脱敏的课堂音频完成真实流程验收，再开展小规模教师审核对照和持续反馈。我们将测量端到端耗时、转写可读性、证据一致性和教师修改量，用真实试用判断项目的价值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知野希望让每一间课堂长出自己的回响。让 AI 承担整理，让教师保留判断，让课堂记录继续支持孩子的学习。知其所学，野望生长。谢谢各位评委。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hiye-roadshow-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hiye-roadshow-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9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21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887fb6604d07465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405079f1a879ba6.jpg"/>
  <Relationship Id="rId3" Type="http://schemas.openxmlformats.org/officeDocument/2006/relationships/image" Target="../media/image_b405079f1a879ba6.jp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7f741ffb2cfe86d.jp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7553d747ee366e65.jp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a9d88dbb3b060eb.jp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887fb6604d07465.png"/>
  <Relationship Id="rId3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ndscape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ky-wa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>
                  <a:alpha val="74000"/>
                </a:schemeClr>
              </a:gs>
              <a:gs pos="68000">
                <a:schemeClr val="lt1">
                  <a:alpha val="58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grpSp>
        <p:nvGrpSpPr>
          <p:cNvPr id="7" name="brand"/>
          <p:cNvGrpSpPr/>
          <p:nvPr/>
        </p:nvGrpSpPr>
        <p:grpSpPr>
          <a:xfrm>
            <a:off x="635508" y="365125"/>
            <a:ext cx="10293477" cy="469392"/>
            <a:chOff x="635508" y="365125"/>
            <a:chExt cx="10293477" cy="469392"/>
          </a:xfrm>
        </p:grpSpPr>
        <p:sp>
          <p:nvSpPr>
            <p:cNvPr id="4" name="TextBox 4"/>
            <p:cNvSpPr txBox="1"/>
            <p:nvPr/>
          </p:nvSpPr>
          <p:spPr>
            <a:xfrm>
              <a:off x="635508" y="365125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423416" y="501650"/>
              <a:ext cx="590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298305" y="4508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课堂复盘数字员工</a:t>
              </a:r>
            </a:p>
          </p:txBody>
        </p:sp>
      </p:grpSp>
      <p:grpSp>
        <p:nvGrpSpPr>
          <p:cNvPr id="10" name="cover-title"/>
          <p:cNvGrpSpPr/>
          <p:nvPr/>
        </p:nvGrpSpPr>
        <p:grpSpPr>
          <a:xfrm>
            <a:off x="628650" y="1085850"/>
            <a:ext cx="8103108" cy="2762250"/>
            <a:chOff x="628650" y="1085850"/>
            <a:chExt cx="8103108" cy="2762250"/>
          </a:xfrm>
        </p:grpSpPr>
        <p:sp>
          <p:nvSpPr>
            <p:cNvPr id="8" name="TextBox 8"/>
            <p:cNvSpPr txBox="1"/>
            <p:nvPr/>
          </p:nvSpPr>
          <p:spPr>
            <a:xfrm>
              <a:off x="628650" y="1085850"/>
              <a:ext cx="6950964" cy="1562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100" dirty="0">
                  <a:solidFill>
                    <a:schemeClr val="accent1"/>
                  </a:solidFill>
                  <a:latin typeface="Ma Shan Zheng"/>
                  <a:ea typeface="KaiTi"/>
                  <a:cs typeface="Ma Shan Zheng"/>
                </a:rPr>
                <a:t>让每一间课堂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8650" y="2286000"/>
              <a:ext cx="8103108" cy="1562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100" dirty="0">
                  <a:solidFill>
                    <a:srgbClr val="3F6B45"/>
                  </a:solidFill>
                  <a:latin typeface="Ma Shan Zheng"/>
                  <a:ea typeface="KaiTi"/>
                  <a:cs typeface="Ma Shan Zheng"/>
                </a:rPr>
                <a:t>长出自己的回响</a:t>
              </a:r>
            </a:p>
          </p:txBody>
        </p:sp>
      </p:grpSp>
      <p:grpSp>
        <p:nvGrpSpPr>
          <p:cNvPr id="13" name="cover-description"/>
          <p:cNvGrpSpPr/>
          <p:nvPr/>
        </p:nvGrpSpPr>
        <p:grpSpPr>
          <a:xfrm>
            <a:off x="712470" y="3816350"/>
            <a:ext cx="4869180" cy="833120"/>
            <a:chOff x="712470" y="3816350"/>
            <a:chExt cx="4869180" cy="833120"/>
          </a:xfrm>
        </p:grpSpPr>
        <p:sp>
          <p:nvSpPr>
            <p:cNvPr id="11" name="TextBox 11"/>
            <p:cNvSpPr txBox="1"/>
            <p:nvPr/>
          </p:nvSpPr>
          <p:spPr>
            <a:xfrm>
              <a:off x="712470" y="3816350"/>
              <a:ext cx="48691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把课堂记录，变成下一次教学的依据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6280" y="4356100"/>
              <a:ext cx="35554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面向乡村小学的 AI 课堂复盘与精准补讲</a:t>
              </a:r>
            </a:p>
          </p:txBody>
        </p:sp>
      </p:grpSp>
      <p:grpSp>
        <p:nvGrpSpPr>
          <p:cNvPr id="15" name="cover-foot"/>
          <p:cNvGrpSpPr/>
          <p:nvPr/>
        </p:nvGrpSpPr>
        <p:grpSpPr>
          <a:xfrm>
            <a:off x="717804" y="6334125"/>
            <a:ext cx="1320698" cy="234696"/>
            <a:chOff x="717804" y="6334125"/>
            <a:chExt cx="1320698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717804" y="6334125"/>
              <a:ext cx="13206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比赛路演 / 5 分钟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rand"/>
          <p:cNvGrpSpPr/>
          <p:nvPr/>
        </p:nvGrpSpPr>
        <p:grpSpPr>
          <a:xfrm>
            <a:off x="600456" y="374650"/>
            <a:ext cx="10145878" cy="352044"/>
            <a:chOff x="600456" y="374650"/>
            <a:chExt cx="10145878" cy="352044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3746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328166" y="434975"/>
              <a:ext cx="563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861804" y="409575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 问题场景</a:t>
              </a:r>
            </a:p>
          </p:txBody>
        </p:sp>
      </p:grpSp>
      <p:grpSp>
        <p:nvGrpSpPr>
          <p:cNvPr id="8" name="footer"/>
          <p:cNvGrpSpPr/>
          <p:nvPr/>
        </p:nvGrpSpPr>
        <p:grpSpPr>
          <a:xfrm>
            <a:off x="604266" y="6483350"/>
            <a:ext cx="10923594" cy="205359"/>
            <a:chOff x="604266" y="6483350"/>
            <a:chExt cx="10923594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604266" y="64833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课堂复盘数字员工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436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/ 12</a:t>
              </a:r>
            </a:p>
          </p:txBody>
        </p:sp>
      </p:grpSp>
      <p:grpSp>
        <p:nvGrpSpPr>
          <p:cNvPr id="11" name="scenario-title"/>
          <p:cNvGrpSpPr/>
          <p:nvPr/>
        </p:nvGrpSpPr>
        <p:grpSpPr>
          <a:xfrm>
            <a:off x="590550" y="1165225"/>
            <a:ext cx="4495800" cy="2114169"/>
            <a:chOff x="590550" y="1165225"/>
            <a:chExt cx="4495800" cy="2114169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1165225"/>
              <a:ext cx="4495800" cy="1504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850"/>
                </a:lnSpc>
              </a:pPr>
              <a:r>
                <a:rPr lang="zh-CN" sz="3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一节课结束，</a:t>
              </a:r>
              <a:br>
                <a:rPr lang="zh-CN" sz="3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教学支持还没有结束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292735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乡村小学教师的课后工作</a:t>
              </a:r>
            </a:p>
          </p:txBody>
        </p:sp>
      </p:grpSp>
      <p:grpSp>
        <p:nvGrpSpPr>
          <p:cNvPr id="19" name="teacher-load"/>
          <p:cNvGrpSpPr/>
          <p:nvPr/>
        </p:nvGrpSpPr>
        <p:grpSpPr>
          <a:xfrm>
            <a:off x="7886700" y="1200150"/>
            <a:ext cx="2813304" cy="3752850"/>
            <a:chOff x="7886700" y="1200150"/>
            <a:chExt cx="2813304" cy="3752850"/>
          </a:xfrm>
        </p:grpSpPr>
        <p:sp>
          <p:nvSpPr>
            <p:cNvPr id="12" name="Line 12"/>
            <p:cNvSpPr/>
            <p:nvPr/>
          </p:nvSpPr>
          <p:spPr>
            <a:xfrm>
              <a:off x="7886700" y="1200150"/>
              <a:ext cx="9525" cy="3752850"/>
            </a:xfrm>
            <a:custGeom>
              <a:avLst/>
              <a:gdLst/>
              <a:ahLst/>
              <a:cxnLst/>
              <a:rect l="l" t="t" r="r" b="b"/>
              <a:pathLst>
                <a:path w="9525" h="3752850">
                  <a:moveTo>
                    <a:pt x="0" y="0"/>
                  </a:moveTo>
                  <a:lnTo>
                    <a:pt x="0" y="375285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54746" y="132080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课堂重点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58556" y="185102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从记录中整理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54746" y="24828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补讲材料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58556" y="301307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把卡点变成教案与练习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54746" y="364490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学生疑问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58556" y="417512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跟进并安排下一次教学</a:t>
              </a:r>
            </a:p>
          </p:txBody>
        </p:sp>
      </p:grpSp>
      <p:grpSp>
        <p:nvGrpSpPr>
          <p:cNvPr id="22" name="scenario-takeaway"/>
          <p:cNvGrpSpPr/>
          <p:nvPr/>
        </p:nvGrpSpPr>
        <p:grpSpPr>
          <a:xfrm>
            <a:off x="596646" y="4006850"/>
            <a:ext cx="3698748" cy="1055243"/>
            <a:chOff x="596646" y="4006850"/>
            <a:chExt cx="3698748" cy="1055243"/>
          </a:xfrm>
        </p:grpSpPr>
        <p:sp>
          <p:nvSpPr>
            <p:cNvPr id="20" name="TextBox 20"/>
            <p:cNvSpPr txBox="1"/>
            <p:nvPr/>
          </p:nvSpPr>
          <p:spPr>
            <a:xfrm>
              <a:off x="596646" y="4006850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记录已经留下，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98932" y="465137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还需要转化成可用的教学材料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rand"/>
          <p:cNvGrpSpPr/>
          <p:nvPr/>
        </p:nvGrpSpPr>
        <p:grpSpPr>
          <a:xfrm>
            <a:off x="600456" y="374650"/>
            <a:ext cx="10145878" cy="352044"/>
            <a:chOff x="600456" y="374650"/>
            <a:chExt cx="10145878" cy="352044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3746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328166" y="434975"/>
              <a:ext cx="563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861804" y="409575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 问题拆解</a:t>
              </a:r>
            </a:p>
          </p:txBody>
        </p:sp>
      </p:grpSp>
      <p:grpSp>
        <p:nvGrpSpPr>
          <p:cNvPr id="8" name="footer"/>
          <p:cNvGrpSpPr/>
          <p:nvPr/>
        </p:nvGrpSpPr>
        <p:grpSpPr>
          <a:xfrm>
            <a:off x="604266" y="6483350"/>
            <a:ext cx="10923594" cy="205359"/>
            <a:chOff x="604266" y="6483350"/>
            <a:chExt cx="10923594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604266" y="64833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课堂复盘数字员工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436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/ 12</a:t>
              </a:r>
            </a:p>
          </p:txBody>
        </p:sp>
      </p:grpSp>
      <p:grpSp>
        <p:nvGrpSpPr>
          <p:cNvPr id="10" name="gap-title"/>
          <p:cNvGrpSpPr/>
          <p:nvPr/>
        </p:nvGrpSpPr>
        <p:grpSpPr>
          <a:xfrm>
            <a:off x="590550" y="1231900"/>
            <a:ext cx="5813298" cy="762000"/>
            <a:chOff x="590550" y="1231900"/>
            <a:chExt cx="5813298" cy="762000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1231900"/>
              <a:ext cx="5813298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教学支持，断在三个地方</a:t>
              </a:r>
            </a:p>
          </p:txBody>
        </p:sp>
      </p:grpSp>
      <p:grpSp>
        <p:nvGrpSpPr>
          <p:cNvPr id="15" name="gap-0"/>
          <p:cNvGrpSpPr/>
          <p:nvPr/>
        </p:nvGrpSpPr>
        <p:grpSpPr>
          <a:xfrm>
            <a:off x="590550" y="2508250"/>
            <a:ext cx="2091690" cy="2644394"/>
            <a:chOff x="590550" y="2508250"/>
            <a:chExt cx="2091690" cy="2644394"/>
          </a:xfrm>
        </p:grpSpPr>
        <p:sp>
          <p:nvSpPr>
            <p:cNvPr id="11" name="TextBox 11"/>
            <p:cNvSpPr txBox="1"/>
            <p:nvPr/>
          </p:nvSpPr>
          <p:spPr>
            <a:xfrm>
              <a:off x="590550" y="2508250"/>
              <a:ext cx="83774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22882" y="284162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教师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6646" y="3683000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复盘挤占精力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0456" y="4391025"/>
              <a:ext cx="1389888" cy="7616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整理课堂记录</a:t>
              </a:r>
              <a:b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准备补讲材料</a:t>
              </a:r>
            </a:p>
          </p:txBody>
        </p:sp>
      </p:grpSp>
      <p:grpSp>
        <p:nvGrpSpPr>
          <p:cNvPr id="20" name="gap-1"/>
          <p:cNvGrpSpPr/>
          <p:nvPr/>
        </p:nvGrpSpPr>
        <p:grpSpPr>
          <a:xfrm>
            <a:off x="4400550" y="2508250"/>
            <a:ext cx="2091690" cy="2644394"/>
            <a:chOff x="4400550" y="2508250"/>
            <a:chExt cx="2091690" cy="2644394"/>
          </a:xfrm>
        </p:grpSpPr>
        <p:sp>
          <p:nvSpPr>
            <p:cNvPr id="16" name="TextBox 16"/>
            <p:cNvSpPr txBox="1"/>
            <p:nvPr/>
          </p:nvSpPr>
          <p:spPr>
            <a:xfrm>
              <a:off x="4400550" y="2508250"/>
              <a:ext cx="83774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32882" y="284162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学生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06646" y="3683000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卡点缺少引导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10456" y="4391025"/>
              <a:ext cx="2075688" cy="7616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需要分层提示</a:t>
              </a:r>
              <a:b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需要表达自己的理解</a:t>
              </a:r>
            </a:p>
          </p:txBody>
        </p:sp>
      </p:grpSp>
      <p:grpSp>
        <p:nvGrpSpPr>
          <p:cNvPr id="25" name="gap-2"/>
          <p:cNvGrpSpPr/>
          <p:nvPr/>
        </p:nvGrpSpPr>
        <p:grpSpPr>
          <a:xfrm>
            <a:off x="8210550" y="2508250"/>
            <a:ext cx="2434971" cy="2644394"/>
            <a:chOff x="8210550" y="2508250"/>
            <a:chExt cx="2434971" cy="2644394"/>
          </a:xfrm>
        </p:grpSpPr>
        <p:sp>
          <p:nvSpPr>
            <p:cNvPr id="21" name="TextBox 21"/>
            <p:cNvSpPr txBox="1"/>
            <p:nvPr/>
          </p:nvSpPr>
          <p:spPr>
            <a:xfrm>
              <a:off x="8210550" y="2508250"/>
              <a:ext cx="83774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42882" y="284162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下一课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6646" y="3683000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反馈难连续利用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20456" y="4391025"/>
              <a:ext cx="1618488" cy="7616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225"/>
                </a:lnSpc>
              </a:pPr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作业与提问分散</a:t>
              </a:r>
              <a:b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难衔接后续教学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rand"/>
          <p:cNvGrpSpPr/>
          <p:nvPr/>
        </p:nvGrpSpPr>
        <p:grpSpPr>
          <a:xfrm>
            <a:off x="600456" y="374650"/>
            <a:ext cx="10145878" cy="352044"/>
            <a:chOff x="600456" y="374650"/>
            <a:chExt cx="10145878" cy="352044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3746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328166" y="434975"/>
              <a:ext cx="563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861804" y="409575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解决方案</a:t>
              </a:r>
            </a:p>
          </p:txBody>
        </p:sp>
      </p:grpSp>
      <p:grpSp>
        <p:nvGrpSpPr>
          <p:cNvPr id="8" name="footer"/>
          <p:cNvGrpSpPr/>
          <p:nvPr/>
        </p:nvGrpSpPr>
        <p:grpSpPr>
          <a:xfrm>
            <a:off x="604266" y="6483350"/>
            <a:ext cx="10923594" cy="205359"/>
            <a:chOff x="604266" y="6483350"/>
            <a:chExt cx="10923594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604266" y="64833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课堂复盘数字员工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436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/ 12</a:t>
              </a:r>
            </a:p>
          </p:txBody>
        </p:sp>
      </p:grpSp>
      <p:grpSp>
        <p:nvGrpSpPr>
          <p:cNvPr id="11" name="loop-title"/>
          <p:cNvGrpSpPr/>
          <p:nvPr/>
        </p:nvGrpSpPr>
        <p:grpSpPr>
          <a:xfrm>
            <a:off x="590550" y="1222375"/>
            <a:ext cx="4763262" cy="1209294"/>
            <a:chOff x="590550" y="1222375"/>
            <a:chExt cx="4763262" cy="1209294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1222375"/>
              <a:ext cx="476326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把课堂，接到下一课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2079625"/>
              <a:ext cx="35396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教师审核连接 AI 复盘与学生学习</a:t>
              </a:r>
            </a:p>
          </p:txBody>
        </p:sp>
      </p:grpSp>
      <p:grpSp>
        <p:nvGrpSpPr>
          <p:cNvPr id="15" name="loop-1"/>
          <p:cNvGrpSpPr/>
          <p:nvPr/>
        </p:nvGrpSpPr>
        <p:grpSpPr>
          <a:xfrm>
            <a:off x="762000" y="3060700"/>
            <a:ext cx="1440180" cy="1864995"/>
            <a:chOff x="762000" y="3060700"/>
            <a:chExt cx="1440180" cy="1864995"/>
          </a:xfrm>
        </p:grpSpPr>
        <p:sp>
          <p:nvSpPr>
            <p:cNvPr id="12" name="TextBox 12"/>
            <p:cNvSpPr txBox="1"/>
            <p:nvPr/>
          </p:nvSpPr>
          <p:spPr>
            <a:xfrm>
              <a:off x="762000" y="3060700"/>
              <a:ext cx="83774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0382" y="40989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课堂记录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3430" y="46323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音频与教学目标</a:t>
              </a:r>
            </a:p>
          </p:txBody>
        </p:sp>
      </p:grpSp>
      <p:grpSp>
        <p:nvGrpSpPr>
          <p:cNvPr id="19" name="loop-2"/>
          <p:cNvGrpSpPr/>
          <p:nvPr/>
        </p:nvGrpSpPr>
        <p:grpSpPr>
          <a:xfrm>
            <a:off x="2971800" y="3060700"/>
            <a:ext cx="1440180" cy="1864995"/>
            <a:chOff x="2971800" y="3060700"/>
            <a:chExt cx="1440180" cy="1864995"/>
          </a:xfrm>
        </p:grpSpPr>
        <p:sp>
          <p:nvSpPr>
            <p:cNvPr id="16" name="TextBox 16"/>
            <p:cNvSpPr txBox="1"/>
            <p:nvPr/>
          </p:nvSpPr>
          <p:spPr>
            <a:xfrm>
              <a:off x="2971800" y="3060700"/>
              <a:ext cx="83774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80182" y="4098925"/>
              <a:ext cx="9474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整理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83230" y="46323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转写与生成草稿</a:t>
              </a:r>
            </a:p>
          </p:txBody>
        </p:sp>
      </p:grpSp>
      <p:grpSp>
        <p:nvGrpSpPr>
          <p:cNvPr id="24" name="loop-3"/>
          <p:cNvGrpSpPr/>
          <p:nvPr/>
        </p:nvGrpSpPr>
        <p:grpSpPr>
          <a:xfrm>
            <a:off x="5029200" y="2924175"/>
            <a:ext cx="2057400" cy="2190750"/>
            <a:chOff x="5029200" y="2924175"/>
            <a:chExt cx="2057400" cy="2190750"/>
          </a:xfrm>
        </p:grpSpPr>
        <p:sp>
          <p:nvSpPr>
            <p:cNvPr id="20" name="Rectangle 20"/>
            <p:cNvSpPr/>
            <p:nvPr/>
          </p:nvSpPr>
          <p:spPr>
            <a:xfrm>
              <a:off x="5029200" y="2924175"/>
              <a:ext cx="2057400" cy="2190750"/>
            </a:xfrm>
            <a:prstGeom prst="roundRect">
              <a:avLst>
                <a:gd name="adj" fmla="val 9259"/>
              </a:avLst>
            </a:prstGeom>
            <a:solidFill>
              <a:srgbClr val="EEE3C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181600" y="3060700"/>
              <a:ext cx="83774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89982" y="40989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教师审核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93030" y="4632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核对、修改、发布</a:t>
              </a:r>
            </a:p>
          </p:txBody>
        </p:sp>
      </p:grpSp>
      <p:grpSp>
        <p:nvGrpSpPr>
          <p:cNvPr id="28" name="loop-4"/>
          <p:cNvGrpSpPr/>
          <p:nvPr/>
        </p:nvGrpSpPr>
        <p:grpSpPr>
          <a:xfrm>
            <a:off x="7391400" y="3060700"/>
            <a:ext cx="1642110" cy="1864995"/>
            <a:chOff x="7391400" y="3060700"/>
            <a:chExt cx="1642110" cy="1864995"/>
          </a:xfrm>
        </p:grpSpPr>
        <p:sp>
          <p:nvSpPr>
            <p:cNvPr id="25" name="TextBox 25"/>
            <p:cNvSpPr txBox="1"/>
            <p:nvPr/>
          </p:nvSpPr>
          <p:spPr>
            <a:xfrm>
              <a:off x="7391400" y="3060700"/>
              <a:ext cx="83774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99782" y="40989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学生学习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02830" y="4632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复习、练习、提问</a:t>
              </a:r>
            </a:p>
          </p:txBody>
        </p:sp>
      </p:grpSp>
      <p:grpSp>
        <p:nvGrpSpPr>
          <p:cNvPr id="32" name="loop-5"/>
          <p:cNvGrpSpPr/>
          <p:nvPr/>
        </p:nvGrpSpPr>
        <p:grpSpPr>
          <a:xfrm>
            <a:off x="9601200" y="3060700"/>
            <a:ext cx="1440180" cy="1864995"/>
            <a:chOff x="9601200" y="3060700"/>
            <a:chExt cx="1440180" cy="1864995"/>
          </a:xfrm>
        </p:grpSpPr>
        <p:sp>
          <p:nvSpPr>
            <p:cNvPr id="29" name="TextBox 29"/>
            <p:cNvSpPr txBox="1"/>
            <p:nvPr/>
          </p:nvSpPr>
          <p:spPr>
            <a:xfrm>
              <a:off x="9601200" y="3060700"/>
              <a:ext cx="83774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609582" y="409892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反馈回流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612630" y="46323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支持下一次教学</a:t>
              </a:r>
            </a:p>
          </p:txBody>
        </p:sp>
      </p:grpSp>
      <p:grpSp>
        <p:nvGrpSpPr>
          <p:cNvPr id="34" name="loop-return"/>
          <p:cNvGrpSpPr/>
          <p:nvPr/>
        </p:nvGrpSpPr>
        <p:grpSpPr>
          <a:xfrm>
            <a:off x="598932" y="5651500"/>
            <a:ext cx="6240780" cy="410718"/>
            <a:chOff x="598932" y="5651500"/>
            <a:chExt cx="6240780" cy="410718"/>
          </a:xfrm>
        </p:grpSpPr>
        <p:sp>
          <p:nvSpPr>
            <p:cNvPr id="33" name="TextBox 33"/>
            <p:cNvSpPr txBox="1"/>
            <p:nvPr/>
          </p:nvSpPr>
          <p:spPr>
            <a:xfrm>
              <a:off x="598932" y="5651500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学习反馈回到教师端，支持下一次补讲与任务安排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4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8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2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4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46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4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rand"/>
          <p:cNvGrpSpPr/>
          <p:nvPr/>
        </p:nvGrpSpPr>
        <p:grpSpPr>
          <a:xfrm>
            <a:off x="600456" y="355600"/>
            <a:ext cx="10307803" cy="352044"/>
            <a:chOff x="600456" y="355600"/>
            <a:chExt cx="10307803" cy="352044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35560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319212" y="438150"/>
              <a:ext cx="4831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023729" y="400050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产品成果</a:t>
              </a:r>
            </a:p>
          </p:txBody>
        </p:sp>
      </p:grpSp>
      <p:grpSp>
        <p:nvGrpSpPr>
          <p:cNvPr id="8" name="product-title"/>
          <p:cNvGrpSpPr/>
          <p:nvPr/>
        </p:nvGrpSpPr>
        <p:grpSpPr>
          <a:xfrm>
            <a:off x="590550" y="1111250"/>
            <a:ext cx="3429762" cy="1462913"/>
            <a:chOff x="590550" y="1111250"/>
            <a:chExt cx="3429762" cy="1462913"/>
          </a:xfrm>
        </p:grpSpPr>
        <p:sp>
          <p:nvSpPr>
            <p:cNvPr id="6" name="TextBox 6"/>
            <p:cNvSpPr txBox="1"/>
            <p:nvPr/>
          </p:nvSpPr>
          <p:spPr>
            <a:xfrm>
              <a:off x="590550" y="111125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把一节课，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1312" y="1870075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整理成教学材料</a:t>
              </a:r>
            </a:p>
          </p:txBody>
        </p:sp>
      </p:grpSp>
      <p:grpSp>
        <p:nvGrpSpPr>
          <p:cNvPr id="14" name="input-output"/>
          <p:cNvGrpSpPr/>
          <p:nvPr/>
        </p:nvGrpSpPr>
        <p:grpSpPr>
          <a:xfrm>
            <a:off x="599694" y="3225800"/>
            <a:ext cx="3496056" cy="1463294"/>
            <a:chOff x="599694" y="3225800"/>
            <a:chExt cx="3496056" cy="1463294"/>
          </a:xfrm>
        </p:grpSpPr>
        <p:sp>
          <p:nvSpPr>
            <p:cNvPr id="9" name="TextBox 9"/>
            <p:cNvSpPr txBox="1"/>
            <p:nvPr/>
          </p:nvSpPr>
          <p:spPr>
            <a:xfrm>
              <a:off x="604266" y="3225800"/>
              <a:ext cx="402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INPUT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9694" y="3444875"/>
              <a:ext cx="24217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课堂录音 + 补讲目标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" y="3895725"/>
              <a:ext cx="3486150" cy="9525"/>
            </a:xfrm>
            <a:custGeom>
              <a:avLst/>
              <a:gdLst/>
              <a:ahLst/>
              <a:cxnLst/>
              <a:rect l="l" t="t" r="r" b="b"/>
              <a:pathLst>
                <a:path w="3486150" h="9525">
                  <a:moveTo>
                    <a:pt x="0" y="0"/>
                  </a:moveTo>
                  <a:lnTo>
                    <a:pt x="34861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04266" y="4102100"/>
              <a:ext cx="559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OUTPUT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433705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复习卡、报告、补讲与练习</a:t>
              </a:r>
            </a:p>
          </p:txBody>
        </p:sp>
      </p:grpSp>
      <p:grpSp>
        <p:nvGrpSpPr>
          <p:cNvPr id="19" name="full-interface"/>
          <p:cNvGrpSpPr/>
          <p:nvPr/>
        </p:nvGrpSpPr>
        <p:grpSpPr>
          <a:xfrm>
            <a:off x="609600" y="4965641"/>
            <a:ext cx="3337560" cy="1346318"/>
            <a:chOff x="609600" y="4965641"/>
            <a:chExt cx="3337560" cy="1346318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4965641"/>
              <a:ext cx="2152650" cy="1346318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2964942" y="510222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教师工作台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65704" y="54102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产品界面示例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65704" y="57150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可审核的复盘</a:t>
              </a:r>
            </a:p>
          </p:txBody>
        </p:sp>
      </p:grpSp>
      <p:grpSp>
        <p:nvGrpSpPr>
          <p:cNvPr id="24" name="product-focus"/>
          <p:cNvGrpSpPr/>
          <p:nvPr/>
        </p:nvGrpSpPr>
        <p:grpSpPr>
          <a:xfrm>
            <a:off x="4810125" y="1066800"/>
            <a:ext cx="6848475" cy="5362575"/>
            <a:chOff x="4810125" y="1066800"/>
            <a:chExt cx="6848475" cy="5362575"/>
          </a:xfrm>
        </p:grpSpPr>
        <p:sp>
          <p:nvSpPr>
            <p:cNvPr id="20" name="Rectangle 20"/>
            <p:cNvSpPr/>
            <p:nvPr/>
          </p:nvSpPr>
          <p:spPr>
            <a:xfrm>
              <a:off x="4810125" y="1066800"/>
              <a:ext cx="6848475" cy="5362575"/>
            </a:xfrm>
            <a:prstGeom prst="roundRect">
              <a:avLst>
                <a:gd name="adj" fmla="val 426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145405" y="1279525"/>
              <a:ext cx="28979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初稿可编辑，教师确认后发布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3"/>
            <a:srcRect l="18136" t="13279" r="27373" b="30488"/>
            <a:stretch>
              <a:fillRect/>
            </a:stretch>
          </p:blipFill>
          <p:spPr>
            <a:xfrm>
              <a:off x="5000625" y="1685925"/>
              <a:ext cx="6467475" cy="417195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5145405" y="6051550"/>
              <a:ext cx="29028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核对依据 / 修改草稿 / 确认发布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2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4" decel="100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384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84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84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6" accel="100000" fill="hold">
                                          <p:stCondLst>
                                            <p:cond delay="38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6" accel="100000" fill="hold">
                                          <p:stCondLst>
                                            <p:cond delay="38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80"/>
                            </p:stCondLst>
                            <p:childTnLst>
                              <p:par>
                                <p:cTn xmlns:p="http://schemas.openxmlformats.org/presentationml/2006/main" id="2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rand"/>
          <p:cNvGrpSpPr/>
          <p:nvPr/>
        </p:nvGrpSpPr>
        <p:grpSpPr>
          <a:xfrm>
            <a:off x="600456" y="374650"/>
            <a:ext cx="10145878" cy="352044"/>
            <a:chOff x="600456" y="374650"/>
            <a:chExt cx="10145878" cy="352044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3746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328166" y="434975"/>
              <a:ext cx="563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861804" y="409575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课堂依据</a:t>
              </a:r>
            </a:p>
          </p:txBody>
        </p:sp>
      </p:grpSp>
      <p:grpSp>
        <p:nvGrpSpPr>
          <p:cNvPr id="8" name="footer"/>
          <p:cNvGrpSpPr/>
          <p:nvPr/>
        </p:nvGrpSpPr>
        <p:grpSpPr>
          <a:xfrm>
            <a:off x="604266" y="6483350"/>
            <a:ext cx="10923594" cy="205359"/>
            <a:chOff x="604266" y="6483350"/>
            <a:chExt cx="10923594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604266" y="64833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课堂复盘数字员工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436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 / 12</a:t>
              </a:r>
            </a:p>
          </p:txBody>
        </p:sp>
      </p:grpSp>
      <p:grpSp>
        <p:nvGrpSpPr>
          <p:cNvPr id="11" name="evidence-title"/>
          <p:cNvGrpSpPr/>
          <p:nvPr/>
        </p:nvGrpSpPr>
        <p:grpSpPr>
          <a:xfrm>
            <a:off x="590550" y="1231900"/>
            <a:ext cx="6863334" cy="1190244"/>
            <a:chOff x="590550" y="1231900"/>
            <a:chExt cx="6863334" cy="1190244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1231900"/>
              <a:ext cx="686333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每条建议，都能回到课堂依据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2070100"/>
              <a:ext cx="30550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课堂事实与 AI 推断分开呈现</a:t>
              </a:r>
            </a:p>
          </p:txBody>
        </p:sp>
      </p:grpSp>
      <p:grpSp>
        <p:nvGrpSpPr>
          <p:cNvPr id="15" name="lesson-screen"/>
          <p:cNvGrpSpPr/>
          <p:nvPr/>
        </p:nvGrpSpPr>
        <p:grpSpPr>
          <a:xfrm>
            <a:off x="609600" y="2781300"/>
            <a:ext cx="5859780" cy="3267075"/>
            <a:chOff x="609600" y="2781300"/>
            <a:chExt cx="5859780" cy="3267075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2781300"/>
              <a:ext cx="5219700" cy="3267075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6050280" y="2936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原始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50280" y="32321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转写</a:t>
              </a:r>
            </a:p>
          </p:txBody>
        </p:sp>
      </p:grpSp>
      <p:grpSp>
        <p:nvGrpSpPr>
          <p:cNvPr id="18" name="evidence-facts"/>
          <p:cNvGrpSpPr/>
          <p:nvPr/>
        </p:nvGrpSpPr>
        <p:grpSpPr>
          <a:xfrm>
            <a:off x="7723632" y="2936875"/>
            <a:ext cx="2685288" cy="885444"/>
            <a:chOff x="7723632" y="2936875"/>
            <a:chExt cx="2685288" cy="885444"/>
          </a:xfrm>
        </p:grpSpPr>
        <p:sp>
          <p:nvSpPr>
            <p:cNvPr id="16" name="TextBox 16"/>
            <p:cNvSpPr txBox="1"/>
            <p:nvPr/>
          </p:nvSpPr>
          <p:spPr>
            <a:xfrm>
              <a:off x="7723632" y="2936875"/>
              <a:ext cx="2133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核对课堂事实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25156" y="347027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保留原始转写与课堂原话</a:t>
              </a:r>
            </a:p>
          </p:txBody>
        </p:sp>
      </p:grpSp>
      <p:grpSp>
        <p:nvGrpSpPr>
          <p:cNvPr id="21" name="evidence-inference"/>
          <p:cNvGrpSpPr/>
          <p:nvPr/>
        </p:nvGrpSpPr>
        <p:grpSpPr>
          <a:xfrm>
            <a:off x="7723632" y="4213225"/>
            <a:ext cx="2927604" cy="885444"/>
            <a:chOff x="7723632" y="4213225"/>
            <a:chExt cx="2927604" cy="885444"/>
          </a:xfrm>
        </p:grpSpPr>
        <p:sp>
          <p:nvSpPr>
            <p:cNvPr id="19" name="TextBox 19"/>
            <p:cNvSpPr txBox="1"/>
            <p:nvPr/>
          </p:nvSpPr>
          <p:spPr>
            <a:xfrm>
              <a:off x="7723632" y="4213225"/>
              <a:ext cx="2133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判断教学建议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725156" y="474662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核实证据关联，再决定取舍</a:t>
              </a:r>
            </a:p>
          </p:txBody>
        </p:sp>
      </p:grpSp>
      <p:grpSp>
        <p:nvGrpSpPr>
          <p:cNvPr id="23" name="evidence-note"/>
          <p:cNvGrpSpPr/>
          <p:nvPr/>
        </p:nvGrpSpPr>
        <p:grpSpPr>
          <a:xfrm>
            <a:off x="7723632" y="5556250"/>
            <a:ext cx="2282952" cy="410718"/>
            <a:chOff x="7723632" y="5556250"/>
            <a:chExt cx="2282952" cy="410718"/>
          </a:xfrm>
        </p:grpSpPr>
        <p:sp>
          <p:nvSpPr>
            <p:cNvPr id="22" name="TextBox 22"/>
            <p:cNvSpPr txBox="1"/>
            <p:nvPr/>
          </p:nvSpPr>
          <p:spPr>
            <a:xfrm>
              <a:off x="7723632" y="55562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教师保留最终判断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36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36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6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6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84" accel="100000" fill="hold">
                                          <p:stCondLst>
                                            <p:cond delay="33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4" accel="100000" fill="hold">
                                          <p:stCondLst>
                                            <p:cond delay="33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2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2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rand"/>
          <p:cNvGrpSpPr/>
          <p:nvPr/>
        </p:nvGrpSpPr>
        <p:grpSpPr>
          <a:xfrm>
            <a:off x="600456" y="374650"/>
            <a:ext cx="10145878" cy="352044"/>
            <a:chOff x="600456" y="374650"/>
            <a:chExt cx="10145878" cy="352044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3746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328166" y="434975"/>
              <a:ext cx="563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861804" y="409575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教师审核</a:t>
              </a:r>
            </a:p>
          </p:txBody>
        </p:sp>
      </p:grpSp>
      <p:grpSp>
        <p:nvGrpSpPr>
          <p:cNvPr id="8" name="footer"/>
          <p:cNvGrpSpPr/>
          <p:nvPr/>
        </p:nvGrpSpPr>
        <p:grpSpPr>
          <a:xfrm>
            <a:off x="604266" y="6483350"/>
            <a:ext cx="10923594" cy="205359"/>
            <a:chOff x="604266" y="6483350"/>
            <a:chExt cx="10923594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604266" y="64833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课堂复盘数字员工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436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 / 12</a:t>
              </a:r>
            </a:p>
          </p:txBody>
        </p:sp>
      </p:grpSp>
      <p:grpSp>
        <p:nvGrpSpPr>
          <p:cNvPr id="10" name="approval-title"/>
          <p:cNvGrpSpPr/>
          <p:nvPr/>
        </p:nvGrpSpPr>
        <p:grpSpPr>
          <a:xfrm>
            <a:off x="590550" y="1139825"/>
            <a:ext cx="3009900" cy="1485900"/>
            <a:chOff x="590550" y="1139825"/>
            <a:chExt cx="3009900" cy="1485900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1139825"/>
              <a:ext cx="3009900" cy="1485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700"/>
                </a:lnSpc>
              </a:pPr>
              <a:r>
                <a:rPr lang="zh-CN" sz="3900" b="1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教师确认，</a:t>
              </a:r>
              <a:br>
                <a:rPr lang="zh-CN" sz="3900" b="1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900" b="1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才对学生开放</a:t>
              </a:r>
            </a:p>
          </p:txBody>
        </p:sp>
      </p:grpSp>
      <p:grpSp>
        <p:nvGrpSpPr>
          <p:cNvPr id="13" name="approval-actions"/>
          <p:cNvGrpSpPr/>
          <p:nvPr/>
        </p:nvGrpSpPr>
        <p:grpSpPr>
          <a:xfrm>
            <a:off x="598932" y="3397250"/>
            <a:ext cx="3221736" cy="1549019"/>
            <a:chOff x="598932" y="3397250"/>
            <a:chExt cx="3221736" cy="1549019"/>
          </a:xfrm>
        </p:grpSpPr>
        <p:sp>
          <p:nvSpPr>
            <p:cNvPr id="11" name="TextBox 11"/>
            <p:cNvSpPr txBox="1"/>
            <p:nvPr/>
          </p:nvSpPr>
          <p:spPr>
            <a:xfrm>
              <a:off x="598932" y="3397250"/>
              <a:ext cx="3221736" cy="9250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50"/>
                </a:lnSpc>
              </a:pPr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AI 初稿可编辑</a:t>
              </a:r>
              <a:b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</a:br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教师核对、修改、确认发布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0456" y="459422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课堂转写与教师报告不公开</a:t>
              </a:r>
            </a:p>
          </p:txBody>
        </p:sp>
      </p:grpSp>
      <p:grpSp>
        <p:nvGrpSpPr>
          <p:cNvPr id="16" name="unpublished-evidence"/>
          <p:cNvGrpSpPr/>
          <p:nvPr/>
        </p:nvGrpSpPr>
        <p:grpSpPr>
          <a:xfrm>
            <a:off x="6210300" y="1323975"/>
            <a:ext cx="5372100" cy="3793744"/>
            <a:chOff x="6210300" y="1323975"/>
            <a:chExt cx="5372100" cy="3793744"/>
          </a:xfrm>
        </p:grpSpPr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0300" y="1323975"/>
              <a:ext cx="5372100" cy="3362325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6410706" y="476567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未发布时，学生端不可查看</a:t>
              </a:r>
            </a:p>
          </p:txBody>
        </p:sp>
      </p:grpSp>
      <p:grpSp>
        <p:nvGrpSpPr>
          <p:cNvPr id="18" name="approval-takeaway"/>
          <p:cNvGrpSpPr/>
          <p:nvPr/>
        </p:nvGrpSpPr>
        <p:grpSpPr>
          <a:xfrm>
            <a:off x="596646" y="5588000"/>
            <a:ext cx="3458718" cy="498729"/>
            <a:chOff x="596646" y="5588000"/>
            <a:chExt cx="3458718" cy="498729"/>
          </a:xfrm>
        </p:grpSpPr>
        <p:sp>
          <p:nvSpPr>
            <p:cNvPr id="17" name="TextBox 17"/>
            <p:cNvSpPr txBox="1"/>
            <p:nvPr/>
          </p:nvSpPr>
          <p:spPr>
            <a:xfrm>
              <a:off x="596646" y="5588000"/>
              <a:ext cx="345871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发布门槛，在教师手里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9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36" decel="100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36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36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6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4" accel="100000" fill="hold">
                                          <p:stCondLst>
                                            <p:cond delay="33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4" accel="100000" fill="hold">
                                          <p:stCondLst>
                                            <p:cond delay="33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rand"/>
          <p:cNvGrpSpPr/>
          <p:nvPr/>
        </p:nvGrpSpPr>
        <p:grpSpPr>
          <a:xfrm>
            <a:off x="600456" y="374650"/>
            <a:ext cx="10145878" cy="352044"/>
            <a:chOff x="600456" y="374650"/>
            <a:chExt cx="10145878" cy="352044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3746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328166" y="434975"/>
              <a:ext cx="563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861804" y="409575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 学习回流</a:t>
              </a:r>
            </a:p>
          </p:txBody>
        </p:sp>
      </p:grpSp>
      <p:grpSp>
        <p:nvGrpSpPr>
          <p:cNvPr id="8" name="footer"/>
          <p:cNvGrpSpPr/>
          <p:nvPr/>
        </p:nvGrpSpPr>
        <p:grpSpPr>
          <a:xfrm>
            <a:off x="604266" y="6483350"/>
            <a:ext cx="10923594" cy="205359"/>
            <a:chOff x="604266" y="6483350"/>
            <a:chExt cx="10923594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604266" y="64833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课堂复盘数字员工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436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08 / 12</a:t>
              </a:r>
            </a:p>
          </p:txBody>
        </p:sp>
      </p:grpSp>
      <p:grpSp>
        <p:nvGrpSpPr>
          <p:cNvPr id="11" name="feedback-title"/>
          <p:cNvGrpSpPr/>
          <p:nvPr/>
        </p:nvGrpSpPr>
        <p:grpSpPr>
          <a:xfrm>
            <a:off x="590550" y="1212850"/>
            <a:ext cx="6863334" cy="1161669"/>
            <a:chOff x="590550" y="1212850"/>
            <a:chExt cx="6863334" cy="1161669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1212850"/>
              <a:ext cx="686333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学生的学习，回到下一次教学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202247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从学习支持到班级聚合信号</a:t>
              </a:r>
            </a:p>
          </p:txBody>
        </p:sp>
      </p:grpSp>
      <p:grpSp>
        <p:nvGrpSpPr>
          <p:cNvPr id="18" name="learning-support"/>
          <p:cNvGrpSpPr/>
          <p:nvPr/>
        </p:nvGrpSpPr>
        <p:grpSpPr>
          <a:xfrm>
            <a:off x="596646" y="2940050"/>
            <a:ext cx="3403854" cy="3138170"/>
            <a:chOff x="596646" y="2940050"/>
            <a:chExt cx="3403854" cy="3138170"/>
          </a:xfrm>
        </p:grpSpPr>
        <p:sp>
          <p:nvSpPr>
            <p:cNvPr id="12" name="TextBox 12"/>
            <p:cNvSpPr txBox="1"/>
            <p:nvPr/>
          </p:nvSpPr>
          <p:spPr>
            <a:xfrm>
              <a:off x="596646" y="29400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学生学习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8932" y="35274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复习卡与任务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0456" y="3952875"/>
              <a:ext cx="2075688" cy="7520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分层提示、思路复述</a:t>
              </a:r>
              <a:b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变式练习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" y="5057775"/>
              <a:ext cx="3390900" cy="9525"/>
            </a:xfrm>
            <a:custGeom>
              <a:avLst/>
              <a:gdLst/>
              <a:ahLst/>
              <a:cxnLst/>
              <a:rect l="l" t="t" r="r" b="b"/>
              <a:pathLst>
                <a:path w="3390900" h="9525">
                  <a:moveTo>
                    <a:pt x="0" y="0"/>
                  </a:moveTo>
                  <a:lnTo>
                    <a:pt x="33909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8932" y="525145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下一课教师草稿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1980" y="57848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草稿不自动推送</a:t>
              </a:r>
            </a:p>
          </p:txBody>
        </p:sp>
      </p:grpSp>
      <p:grpSp>
        <p:nvGrpSpPr>
          <p:cNvPr id="23" name="feedback-screen"/>
          <p:cNvGrpSpPr/>
          <p:nvPr/>
        </p:nvGrpSpPr>
        <p:grpSpPr>
          <a:xfrm>
            <a:off x="4857750" y="2762250"/>
            <a:ext cx="5802630" cy="3228975"/>
            <a:chOff x="4857750" y="2762250"/>
            <a:chExt cx="5802630" cy="3228975"/>
          </a:xfrm>
        </p:grpSpPr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57750" y="2762250"/>
              <a:ext cx="5162550" cy="3228975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10241280" y="31559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聚合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241280" y="347980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学习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241280" y="38036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信号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9" presetID="3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36" decel="100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36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36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36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4" accel="100000" fill="hold">
                                          <p:stCondLst>
                                            <p:cond delay="33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4" accel="100000" fill="hold">
                                          <p:stCondLst>
                                            <p:cond delay="33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rand"/>
          <p:cNvGrpSpPr/>
          <p:nvPr/>
        </p:nvGrpSpPr>
        <p:grpSpPr>
          <a:xfrm>
            <a:off x="600456" y="374650"/>
            <a:ext cx="10145878" cy="352044"/>
            <a:chOff x="600456" y="374650"/>
            <a:chExt cx="10145878" cy="352044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3746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328166" y="434975"/>
              <a:ext cx="563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861804" y="409575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 核心机制</a:t>
              </a:r>
            </a:p>
          </p:txBody>
        </p:sp>
      </p:grpSp>
      <p:grpSp>
        <p:nvGrpSpPr>
          <p:cNvPr id="8" name="footer"/>
          <p:cNvGrpSpPr/>
          <p:nvPr/>
        </p:nvGrpSpPr>
        <p:grpSpPr>
          <a:xfrm>
            <a:off x="604266" y="6483350"/>
            <a:ext cx="10923594" cy="205359"/>
            <a:chOff x="604266" y="6483350"/>
            <a:chExt cx="10923594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604266" y="64833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课堂复盘数字员工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436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09 / 12</a:t>
              </a:r>
            </a:p>
          </p:txBody>
        </p:sp>
      </p:grpSp>
      <p:grpSp>
        <p:nvGrpSpPr>
          <p:cNvPr id="11" name="agent-title"/>
          <p:cNvGrpSpPr/>
          <p:nvPr/>
        </p:nvGrpSpPr>
        <p:grpSpPr>
          <a:xfrm>
            <a:off x="590550" y="1212850"/>
            <a:ext cx="6338316" cy="1199769"/>
            <a:chOff x="590550" y="1212850"/>
            <a:chExt cx="6338316" cy="1199769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1212850"/>
              <a:ext cx="633831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有状态、有依据的工具编排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0456" y="206057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多步工作流保留证据与人工审核节点</a:t>
              </a:r>
            </a:p>
          </p:txBody>
        </p:sp>
      </p:grpSp>
      <p:grpSp>
        <p:nvGrpSpPr>
          <p:cNvPr id="15" name="agent-1"/>
          <p:cNvGrpSpPr/>
          <p:nvPr/>
        </p:nvGrpSpPr>
        <p:grpSpPr>
          <a:xfrm>
            <a:off x="590550" y="2784475"/>
            <a:ext cx="1790700" cy="1903095"/>
            <a:chOff x="590550" y="2784475"/>
            <a:chExt cx="1790700" cy="1903095"/>
          </a:xfrm>
        </p:grpSpPr>
        <p:sp>
          <p:nvSpPr>
            <p:cNvPr id="12" name="TextBox 12"/>
            <p:cNvSpPr txBox="1"/>
            <p:nvPr/>
          </p:nvSpPr>
          <p:spPr>
            <a:xfrm>
              <a:off x="590550" y="2784475"/>
              <a:ext cx="83774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8932" y="38608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本地转写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4394200"/>
              <a:ext cx="1779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FunASR 音频转文本</a:t>
              </a:r>
            </a:p>
          </p:txBody>
        </p:sp>
      </p:grpSp>
      <p:grpSp>
        <p:nvGrpSpPr>
          <p:cNvPr id="19" name="agent-2"/>
          <p:cNvGrpSpPr/>
          <p:nvPr/>
        </p:nvGrpSpPr>
        <p:grpSpPr>
          <a:xfrm>
            <a:off x="3409950" y="2784475"/>
            <a:ext cx="1642110" cy="1903095"/>
            <a:chOff x="3409950" y="2784475"/>
            <a:chExt cx="1642110" cy="1903095"/>
          </a:xfrm>
        </p:grpSpPr>
        <p:sp>
          <p:nvSpPr>
            <p:cNvPr id="16" name="TextBox 16"/>
            <p:cNvSpPr txBox="1"/>
            <p:nvPr/>
          </p:nvSpPr>
          <p:spPr>
            <a:xfrm>
              <a:off x="3409950" y="2784475"/>
              <a:ext cx="83774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18332" y="38608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提取证据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21380" y="43942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依据原始课堂文本</a:t>
              </a:r>
            </a:p>
          </p:txBody>
        </p:sp>
      </p:grpSp>
      <p:grpSp>
        <p:nvGrpSpPr>
          <p:cNvPr id="23" name="agent-3"/>
          <p:cNvGrpSpPr/>
          <p:nvPr/>
        </p:nvGrpSpPr>
        <p:grpSpPr>
          <a:xfrm>
            <a:off x="6229350" y="2784475"/>
            <a:ext cx="1642110" cy="1903095"/>
            <a:chOff x="6229350" y="2784475"/>
            <a:chExt cx="1642110" cy="1903095"/>
          </a:xfrm>
        </p:grpSpPr>
        <p:sp>
          <p:nvSpPr>
            <p:cNvPr id="20" name="TextBox 20"/>
            <p:cNvSpPr txBox="1"/>
            <p:nvPr/>
          </p:nvSpPr>
          <p:spPr>
            <a:xfrm>
              <a:off x="6229350" y="2784475"/>
              <a:ext cx="83774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37732" y="3860800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结构化生成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40780" y="43942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复习卡与教学草稿</a:t>
              </a:r>
            </a:p>
          </p:txBody>
        </p:sp>
      </p:grpSp>
      <p:grpSp>
        <p:nvGrpSpPr>
          <p:cNvPr id="27" name="agent-4"/>
          <p:cNvGrpSpPr/>
          <p:nvPr/>
        </p:nvGrpSpPr>
        <p:grpSpPr>
          <a:xfrm>
            <a:off x="9048750" y="2784475"/>
            <a:ext cx="1440180" cy="1903095"/>
            <a:chOff x="9048750" y="2784475"/>
            <a:chExt cx="1440180" cy="1903095"/>
          </a:xfrm>
        </p:grpSpPr>
        <p:sp>
          <p:nvSpPr>
            <p:cNvPr id="24" name="TextBox 24"/>
            <p:cNvSpPr txBox="1"/>
            <p:nvPr/>
          </p:nvSpPr>
          <p:spPr>
            <a:xfrm>
              <a:off x="9048750" y="2784475"/>
              <a:ext cx="837743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57132" y="386080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教师审核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60180" y="43942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人工确认后发布</a:t>
              </a:r>
            </a:p>
          </p:txBody>
        </p:sp>
      </p:grpSp>
      <p:grpSp>
        <p:nvGrpSpPr>
          <p:cNvPr id="31" name="agent-boundary"/>
          <p:cNvGrpSpPr/>
          <p:nvPr/>
        </p:nvGrpSpPr>
        <p:grpSpPr>
          <a:xfrm>
            <a:off x="598932" y="5143500"/>
            <a:ext cx="10983468" cy="963295"/>
            <a:chOff x="598932" y="5143500"/>
            <a:chExt cx="10983468" cy="963295"/>
          </a:xfrm>
        </p:grpSpPr>
        <p:sp>
          <p:nvSpPr>
            <p:cNvPr id="28" name="Line 28"/>
            <p:cNvSpPr/>
            <p:nvPr/>
          </p:nvSpPr>
          <p:spPr>
            <a:xfrm>
              <a:off x="609600" y="5143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8932" y="5308600"/>
              <a:ext cx="53926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各步保留状态与错误原因，失败步骤可重试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01980" y="581342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本地模式：本机处理音频和题图，所需文本用于大模型生成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4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4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4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8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2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4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-field"/>
          <p:cNvSpPr/>
          <p:nvPr/>
        </p:nvSpPr>
        <p:spPr>
          <a:xfrm>
            <a:off x="8362950" y="0"/>
            <a:ext cx="382905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grpSp>
        <p:nvGrpSpPr>
          <p:cNvPr id="6" name="verification-brand"/>
          <p:cNvGrpSpPr/>
          <p:nvPr/>
        </p:nvGrpSpPr>
        <p:grpSpPr>
          <a:xfrm>
            <a:off x="600456" y="384175"/>
            <a:ext cx="6669253" cy="352044"/>
            <a:chOff x="600456" y="384175"/>
            <a:chExt cx="6669253" cy="352044"/>
          </a:xfrm>
        </p:grpSpPr>
        <p:sp>
          <p:nvSpPr>
            <p:cNvPr id="3" name="TextBox 3"/>
            <p:cNvSpPr txBox="1"/>
            <p:nvPr/>
          </p:nvSpPr>
          <p:spPr>
            <a:xfrm>
              <a:off x="600456" y="38417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319212" y="457200"/>
              <a:ext cx="4831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385179" y="428625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验证结果</a:t>
              </a:r>
            </a:p>
          </p:txBody>
        </p:sp>
      </p:grpSp>
      <p:grpSp>
        <p:nvGrpSpPr>
          <p:cNvPr id="9" name="verification-heading"/>
          <p:cNvGrpSpPr/>
          <p:nvPr/>
        </p:nvGrpSpPr>
        <p:grpSpPr>
          <a:xfrm>
            <a:off x="590550" y="1050925"/>
            <a:ext cx="4238244" cy="1165606"/>
            <a:chOff x="590550" y="1050925"/>
            <a:chExt cx="4238244" cy="1165606"/>
          </a:xfrm>
        </p:grpSpPr>
        <p:sp>
          <p:nvSpPr>
            <p:cNvPr id="7" name="TextBox 7"/>
            <p:cNvSpPr txBox="1"/>
            <p:nvPr/>
          </p:nvSpPr>
          <p:spPr>
            <a:xfrm>
              <a:off x="590550" y="1050925"/>
              <a:ext cx="423824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验证，以证据为准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9694" y="18351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已完成原型工程验收</a:t>
              </a:r>
            </a:p>
          </p:txBody>
        </p:sp>
      </p:grpSp>
      <p:grpSp>
        <p:nvGrpSpPr>
          <p:cNvPr id="12" name="metric-front"/>
          <p:cNvGrpSpPr/>
          <p:nvPr/>
        </p:nvGrpSpPr>
        <p:grpSpPr>
          <a:xfrm>
            <a:off x="590550" y="2590800"/>
            <a:ext cx="2437028" cy="2076450"/>
            <a:chOff x="590550" y="2590800"/>
            <a:chExt cx="2437028" cy="2076450"/>
          </a:xfrm>
        </p:grpSpPr>
        <p:sp>
          <p:nvSpPr>
            <p:cNvPr id="10" name="TextBox 10"/>
            <p:cNvSpPr txBox="1"/>
            <p:nvPr/>
          </p:nvSpPr>
          <p:spPr>
            <a:xfrm>
              <a:off x="590550" y="2590800"/>
              <a:ext cx="2437028" cy="2076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00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181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5894" y="415925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项前端测试通过</a:t>
              </a:r>
            </a:p>
          </p:txBody>
        </p:sp>
      </p:grpSp>
      <p:grpSp>
        <p:nvGrpSpPr>
          <p:cNvPr id="15" name="metric-ai"/>
          <p:cNvGrpSpPr/>
          <p:nvPr/>
        </p:nvGrpSpPr>
        <p:grpSpPr>
          <a:xfrm>
            <a:off x="4419600" y="2590800"/>
            <a:ext cx="2344903" cy="2076450"/>
            <a:chOff x="4419600" y="2590800"/>
            <a:chExt cx="2344903" cy="2076450"/>
          </a:xfrm>
        </p:grpSpPr>
        <p:sp>
          <p:nvSpPr>
            <p:cNvPr id="13" name="TextBox 13"/>
            <p:cNvSpPr txBox="1"/>
            <p:nvPr/>
          </p:nvSpPr>
          <p:spPr>
            <a:xfrm>
              <a:off x="4419600" y="2590800"/>
              <a:ext cx="1637386" cy="2076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4944" y="4159250"/>
              <a:ext cx="225955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项本地 AI 测试通过</a:t>
              </a:r>
            </a:p>
          </p:txBody>
        </p:sp>
      </p:grpSp>
      <p:grpSp>
        <p:nvGrpSpPr>
          <p:cNvPr id="20" name="engineering-scope"/>
          <p:cNvGrpSpPr/>
          <p:nvPr/>
        </p:nvGrpSpPr>
        <p:grpSpPr>
          <a:xfrm>
            <a:off x="600456" y="4857750"/>
            <a:ext cx="7133844" cy="1396746"/>
            <a:chOff x="600456" y="4857750"/>
            <a:chExt cx="7133844" cy="1396746"/>
          </a:xfrm>
        </p:grpSpPr>
        <p:sp>
          <p:nvSpPr>
            <p:cNvPr id="16" name="Line 16"/>
            <p:cNvSpPr/>
            <p:nvPr/>
          </p:nvSpPr>
          <p:spPr>
            <a:xfrm>
              <a:off x="609600" y="4857750"/>
              <a:ext cx="7124700" cy="9525"/>
            </a:xfrm>
            <a:custGeom>
              <a:avLst/>
              <a:gdLst/>
              <a:ahLst/>
              <a:cxnLst/>
              <a:rect l="l" t="t" r="r" b="b"/>
              <a:pathLst>
                <a:path w="7124700" h="9525">
                  <a:moveTo>
                    <a:pt x="0" y="0"/>
                  </a:moveTo>
                  <a:lnTo>
                    <a:pt x="71247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0456" y="505142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EFA"/>
                  </a:solidFill>
                  <a:latin typeface="+mn-lt"/>
                  <a:ea typeface="+mn-ea"/>
                  <a:cs typeface="+mn-cs"/>
                </a:rPr>
                <a:t>类型检查与生产构建通过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1980" y="5518150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四类失败边界：空录音、缺密钥、空转写、网络断开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3504" y="6019800"/>
              <a:ext cx="35207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项目 Day 08 历史验收记录，数字为当时测试结果</a:t>
              </a:r>
            </a:p>
          </p:txBody>
        </p:sp>
      </p:grpSp>
      <p:grpSp>
        <p:nvGrpSpPr>
          <p:cNvPr id="28" name="field-validation"/>
          <p:cNvGrpSpPr/>
          <p:nvPr/>
        </p:nvGrpSpPr>
        <p:grpSpPr>
          <a:xfrm>
            <a:off x="8727948" y="942975"/>
            <a:ext cx="2854452" cy="4954270"/>
            <a:chOff x="8727948" y="942975"/>
            <a:chExt cx="2854452" cy="4954270"/>
          </a:xfrm>
        </p:grpSpPr>
        <p:sp>
          <p:nvSpPr>
            <p:cNvPr id="21" name="TextBox 21"/>
            <p:cNvSpPr txBox="1"/>
            <p:nvPr/>
          </p:nvSpPr>
          <p:spPr>
            <a:xfrm>
              <a:off x="8737854" y="942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下一阶段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27948" y="1600200"/>
              <a:ext cx="1632204" cy="1124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001"/>
                </a:lnSpc>
              </a:pP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真实课堂</a:t>
              </a:r>
              <a:b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效果验证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8743950" y="2847975"/>
              <a:ext cx="2838450" cy="9525"/>
            </a:xfrm>
            <a:custGeom>
              <a:avLst/>
              <a:gdLst/>
              <a:ahLst/>
              <a:cxnLst/>
              <a:rect l="l" t="t" r="r" b="b"/>
              <a:pathLst>
                <a:path w="2838450" h="9525">
                  <a:moveTo>
                    <a:pt x="0" y="0"/>
                  </a:moveTo>
                  <a:lnTo>
                    <a:pt x="28384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33282" y="308927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端到端耗时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734806" y="374650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教师审核与修改量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733282" y="43275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持续学习反馈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36330" y="5222875"/>
              <a:ext cx="1920240" cy="674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目前尚无课堂成效数据</a:t>
              </a:r>
              <a:b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计划通过教师试用检验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8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6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3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2" decel="100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52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52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52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8" accel="100000" fill="hold">
                                          <p:stCondLst>
                                            <p:cond delay="35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brand"/>
          <p:cNvGrpSpPr/>
          <p:nvPr/>
        </p:nvGrpSpPr>
        <p:grpSpPr>
          <a:xfrm>
            <a:off x="600456" y="374650"/>
            <a:ext cx="10145878" cy="352044"/>
            <a:chOff x="600456" y="374650"/>
            <a:chExt cx="10145878" cy="352044"/>
          </a:xfrm>
        </p:grpSpPr>
        <p:sp>
          <p:nvSpPr>
            <p:cNvPr id="2" name="TextBox 2"/>
            <p:cNvSpPr txBox="1"/>
            <p:nvPr/>
          </p:nvSpPr>
          <p:spPr>
            <a:xfrm>
              <a:off x="600456" y="37465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328166" y="434975"/>
              <a:ext cx="563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861804" y="409575"/>
              <a:ext cx="884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 落地验证</a:t>
              </a:r>
            </a:p>
          </p:txBody>
        </p:sp>
      </p:grpSp>
      <p:grpSp>
        <p:nvGrpSpPr>
          <p:cNvPr id="8" name="footer"/>
          <p:cNvGrpSpPr/>
          <p:nvPr/>
        </p:nvGrpSpPr>
        <p:grpSpPr>
          <a:xfrm>
            <a:off x="604266" y="6483350"/>
            <a:ext cx="10923594" cy="205359"/>
            <a:chOff x="604266" y="6483350"/>
            <a:chExt cx="10923594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604266" y="648335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课堂复盘数字员工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43666" y="648335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11 / 12</a:t>
              </a:r>
            </a:p>
          </p:txBody>
        </p:sp>
      </p:grpSp>
      <p:grpSp>
        <p:nvGrpSpPr>
          <p:cNvPr id="10" name="trial-title"/>
          <p:cNvGrpSpPr/>
          <p:nvPr/>
        </p:nvGrpSpPr>
        <p:grpSpPr>
          <a:xfrm>
            <a:off x="590550" y="1231900"/>
            <a:ext cx="6863334" cy="762000"/>
            <a:chOff x="590550" y="1231900"/>
            <a:chExt cx="6863334" cy="762000"/>
          </a:xfrm>
        </p:grpSpPr>
        <p:sp>
          <p:nvSpPr>
            <p:cNvPr id="9" name="TextBox 9"/>
            <p:cNvSpPr txBox="1"/>
            <p:nvPr/>
          </p:nvSpPr>
          <p:spPr>
            <a:xfrm>
              <a:off x="590550" y="1231900"/>
              <a:ext cx="686333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下一步，用真实课堂检验价值</a:t>
              </a:r>
            </a:p>
          </p:txBody>
        </p:sp>
      </p:grpSp>
      <p:grpSp>
        <p:nvGrpSpPr>
          <p:cNvPr id="16" name="prototype-boundary"/>
          <p:cNvGrpSpPr/>
          <p:nvPr/>
        </p:nvGrpSpPr>
        <p:grpSpPr>
          <a:xfrm>
            <a:off x="596646" y="2759075"/>
            <a:ext cx="3956304" cy="2577719"/>
            <a:chOff x="596646" y="2759075"/>
            <a:chExt cx="3956304" cy="2577719"/>
          </a:xfrm>
        </p:grpSpPr>
        <p:sp>
          <p:nvSpPr>
            <p:cNvPr id="11" name="TextBox 11"/>
            <p:cNvSpPr txBox="1"/>
            <p:nvPr/>
          </p:nvSpPr>
          <p:spPr>
            <a:xfrm>
              <a:off x="596646" y="2759075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当前原型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8932" y="339407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同一浏览器内四端联动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0456" y="389890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教师、学生、家长、管理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609600" y="4457700"/>
              <a:ext cx="3943350" cy="9525"/>
            </a:xfrm>
            <a:custGeom>
              <a:avLst/>
              <a:gdLst/>
              <a:ahLst/>
              <a:cxnLst/>
              <a:rect l="l" t="t" r="r" b="b"/>
              <a:pathLst>
                <a:path w="3943350" h="9525">
                  <a:moveTo>
                    <a:pt x="0" y="0"/>
                  </a:moveTo>
                  <a:lnTo>
                    <a:pt x="39433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00456" y="4603750"/>
              <a:ext cx="2761488" cy="733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跨设备共享与正式账号认证</a:t>
              </a:r>
              <a:b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尚未接入</a:t>
              </a:r>
            </a:p>
          </p:txBody>
        </p:sp>
      </p:grpSp>
      <p:grpSp>
        <p:nvGrpSpPr>
          <p:cNvPr id="19" name="audio-trial"/>
          <p:cNvGrpSpPr/>
          <p:nvPr/>
        </p:nvGrpSpPr>
        <p:grpSpPr>
          <a:xfrm>
            <a:off x="5723382" y="2765425"/>
            <a:ext cx="4381500" cy="856869"/>
            <a:chOff x="5723382" y="2765425"/>
            <a:chExt cx="4381500" cy="856869"/>
          </a:xfrm>
        </p:grpSpPr>
        <p:sp>
          <p:nvSpPr>
            <p:cNvPr id="17" name="TextBox 17"/>
            <p:cNvSpPr txBox="1"/>
            <p:nvPr/>
          </p:nvSpPr>
          <p:spPr>
            <a:xfrm>
              <a:off x="5723382" y="2765425"/>
              <a:ext cx="21331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 真实音频验收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24906" y="3270250"/>
              <a:ext cx="43799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获准且脱敏的课堂音频，跑通端到端流程</a:t>
              </a:r>
            </a:p>
          </p:txBody>
        </p:sp>
      </p:grpSp>
      <p:grpSp>
        <p:nvGrpSpPr>
          <p:cNvPr id="22" name="teacher-trial"/>
          <p:cNvGrpSpPr/>
          <p:nvPr/>
        </p:nvGrpSpPr>
        <p:grpSpPr>
          <a:xfrm>
            <a:off x="5723382" y="4194175"/>
            <a:ext cx="2685288" cy="856869"/>
            <a:chOff x="5723382" y="4194175"/>
            <a:chExt cx="2685288" cy="856869"/>
          </a:xfrm>
        </p:grpSpPr>
        <p:sp>
          <p:nvSpPr>
            <p:cNvPr id="20" name="TextBox 20"/>
            <p:cNvSpPr txBox="1"/>
            <p:nvPr/>
          </p:nvSpPr>
          <p:spPr>
            <a:xfrm>
              <a:off x="5723382" y="4194175"/>
              <a:ext cx="24158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 小规模教师试用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24906" y="469900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审核对照与持续学习反馈</a:t>
              </a:r>
            </a:p>
          </p:txBody>
        </p:sp>
      </p:grpSp>
      <p:grpSp>
        <p:nvGrpSpPr>
          <p:cNvPr id="24" name="trial-metrics"/>
          <p:cNvGrpSpPr/>
          <p:nvPr/>
        </p:nvGrpSpPr>
        <p:grpSpPr>
          <a:xfrm>
            <a:off x="5724906" y="5565775"/>
            <a:ext cx="4622292" cy="352044"/>
            <a:chOff x="5724906" y="5565775"/>
            <a:chExt cx="4622292" cy="352044"/>
          </a:xfrm>
        </p:grpSpPr>
        <p:sp>
          <p:nvSpPr>
            <p:cNvPr id="23" name="TextBox 23"/>
            <p:cNvSpPr txBox="1"/>
            <p:nvPr/>
          </p:nvSpPr>
          <p:spPr>
            <a:xfrm>
              <a:off x="5724906" y="5565775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待测：耗时、可读性、证据一致性、修改量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ndscape"/>
          <p:cNvPicPr>
            <a:picLocks noChangeAspect="1"/>
          </p:cNvPicPr>
          <p:nvPr/>
        </p:nvPicPr>
        <p:blipFill>
          <a:blip r:embed="rId2"/>
          <a:srcRect l="0" t="26" r="0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ky-wash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>
                  <a:alpha val="74000"/>
                </a:schemeClr>
              </a:gs>
              <a:gs pos="68000">
                <a:schemeClr val="lt1">
                  <a:alpha val="58000"/>
                </a:schemeClr>
              </a:gs>
              <a:gs pos="100000">
                <a:schemeClr val="lt1">
                  <a:alpha val="0"/>
                </a:schemeClr>
              </a:gs>
            </a:gsLst>
            <a:lin ang="5400000" scaled="1"/>
          </a:gradFill>
          <a:ln>
            <a:noFill/>
          </a:ln>
        </p:spPr>
      </p:sp>
      <p:grpSp>
        <p:nvGrpSpPr>
          <p:cNvPr id="7" name="brand"/>
          <p:cNvGrpSpPr/>
          <p:nvPr/>
        </p:nvGrpSpPr>
        <p:grpSpPr>
          <a:xfrm>
            <a:off x="635508" y="365125"/>
            <a:ext cx="10293477" cy="469392"/>
            <a:chOff x="635508" y="365125"/>
            <a:chExt cx="10293477" cy="469392"/>
          </a:xfrm>
        </p:grpSpPr>
        <p:sp>
          <p:nvSpPr>
            <p:cNvPr id="4" name="TextBox 4"/>
            <p:cNvSpPr txBox="1"/>
            <p:nvPr/>
          </p:nvSpPr>
          <p:spPr>
            <a:xfrm>
              <a:off x="635508" y="365125"/>
              <a:ext cx="67056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知野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423416" y="501650"/>
              <a:ext cx="5909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 H I Y 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298305" y="4508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课堂复盘数字员工</a:t>
              </a:r>
            </a:p>
          </p:txBody>
        </p:sp>
      </p:grpSp>
      <p:grpSp>
        <p:nvGrpSpPr>
          <p:cNvPr id="10" name="cover-title"/>
          <p:cNvGrpSpPr/>
          <p:nvPr/>
        </p:nvGrpSpPr>
        <p:grpSpPr>
          <a:xfrm>
            <a:off x="628650" y="1085850"/>
            <a:ext cx="8103108" cy="2762250"/>
            <a:chOff x="628650" y="1085850"/>
            <a:chExt cx="8103108" cy="2762250"/>
          </a:xfrm>
        </p:grpSpPr>
        <p:sp>
          <p:nvSpPr>
            <p:cNvPr id="8" name="TextBox 8"/>
            <p:cNvSpPr txBox="1"/>
            <p:nvPr/>
          </p:nvSpPr>
          <p:spPr>
            <a:xfrm>
              <a:off x="628650" y="1085850"/>
              <a:ext cx="6950964" cy="1562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100" dirty="0">
                  <a:solidFill>
                    <a:schemeClr val="accent1"/>
                  </a:solidFill>
                  <a:latin typeface="Ma Shan Zheng"/>
                  <a:ea typeface="KaiTi"/>
                  <a:cs typeface="Ma Shan Zheng"/>
                </a:rPr>
                <a:t>让每一间课堂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8650" y="2286000"/>
              <a:ext cx="8103108" cy="15621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100" dirty="0">
                  <a:solidFill>
                    <a:srgbClr val="3F6B45"/>
                  </a:solidFill>
                  <a:latin typeface="Ma Shan Zheng"/>
                  <a:ea typeface="KaiTi"/>
                  <a:cs typeface="Ma Shan Zheng"/>
                </a:rPr>
                <a:t>长出自己的回响</a:t>
              </a:r>
            </a:p>
          </p:txBody>
        </p:sp>
      </p:grpSp>
      <p:grpSp>
        <p:nvGrpSpPr>
          <p:cNvPr id="13" name="cover-description"/>
          <p:cNvGrpSpPr/>
          <p:nvPr/>
        </p:nvGrpSpPr>
        <p:grpSpPr>
          <a:xfrm>
            <a:off x="712470" y="3816350"/>
            <a:ext cx="3722751" cy="833120"/>
            <a:chOff x="712470" y="3816350"/>
            <a:chExt cx="3722751" cy="833120"/>
          </a:xfrm>
        </p:grpSpPr>
        <p:sp>
          <p:nvSpPr>
            <p:cNvPr id="11" name="TextBox 11"/>
            <p:cNvSpPr txBox="1"/>
            <p:nvPr/>
          </p:nvSpPr>
          <p:spPr>
            <a:xfrm>
              <a:off x="712470" y="3816350"/>
              <a:ext cx="372275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AI 承担整理，教师保留判断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6280" y="43561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知其所学，野望生长</a:t>
              </a:r>
            </a:p>
          </p:txBody>
        </p:sp>
      </p:grpSp>
      <p:grpSp>
        <p:nvGrpSpPr>
          <p:cNvPr id="15" name="cover-foot"/>
          <p:cNvGrpSpPr/>
          <p:nvPr/>
        </p:nvGrpSpPr>
        <p:grpSpPr>
          <a:xfrm>
            <a:off x="717804" y="6334125"/>
            <a:ext cx="981456" cy="234696"/>
            <a:chOff x="717804" y="6334125"/>
            <a:chExt cx="981456" cy="234696"/>
          </a:xfrm>
        </p:grpSpPr>
        <p:sp>
          <p:nvSpPr>
            <p:cNvPr id="14" name="TextBox 14"/>
            <p:cNvSpPr txBox="1"/>
            <p:nvPr/>
          </p:nvSpPr>
          <p:spPr>
            <a:xfrm>
              <a:off x="717804" y="633412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谢谢各位评委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zhiye-roadshow-v2">
  <a:themeElements>
    <a:clrScheme name="zhiye-roadshow-v2">
      <a:dk1>
        <a:srgbClr val="294B30"/>
      </a:dk1>
      <a:lt1>
        <a:srgbClr val="F4F7F3"/>
      </a:lt1>
      <a:dk2>
        <a:srgbClr val="1F497D"/>
      </a:dk2>
      <a:lt2>
        <a:srgbClr val="FFFEFA"/>
      </a:lt2>
      <a:accent1>
        <a:srgbClr val="172019"/>
      </a:accent1>
      <a:accent2>
        <a:srgbClr val="526F59"/>
      </a:accent2>
      <a:accent3>
        <a:srgbClr val="C9A660"/>
      </a:accent3>
      <a:accent4>
        <a:srgbClr val="172019"/>
      </a:accent4>
      <a:accent5>
        <a:srgbClr val="56675C"/>
      </a:accent5>
      <a:accent6>
        <a:srgbClr val="DCE8D5"/>
      </a:accent6>
      <a:hlink>
        <a:srgbClr val="526F59"/>
      </a:hlink>
      <a:folHlink>
        <a:srgbClr val="C9A660"/>
      </a:folHlink>
    </a:clrScheme>
    <a:fontScheme name="zhiye-roadshow-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iye-roadshow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zhiye-roadshow-v2">
  <a:themeElements>
    <a:clrScheme name="zhiye-roadshow-v2">
      <a:dk1>
        <a:srgbClr val="294B30"/>
      </a:dk1>
      <a:lt1>
        <a:srgbClr val="F4F7F3"/>
      </a:lt1>
      <a:dk2>
        <a:srgbClr val="1F497D"/>
      </a:dk2>
      <a:lt2>
        <a:srgbClr val="FFFEFA"/>
      </a:lt2>
      <a:accent1>
        <a:srgbClr val="172019"/>
      </a:accent1>
      <a:accent2>
        <a:srgbClr val="526F59"/>
      </a:accent2>
      <a:accent3>
        <a:srgbClr val="C9A660"/>
      </a:accent3>
      <a:accent4>
        <a:srgbClr val="172019"/>
      </a:accent4>
      <a:accent5>
        <a:srgbClr val="56675C"/>
      </a:accent5>
      <a:accent6>
        <a:srgbClr val="DCE8D5"/>
      </a:accent6>
      <a:hlink>
        <a:srgbClr val="526F59"/>
      </a:hlink>
      <a:folHlink>
        <a:srgbClr val="C9A660"/>
      </a:folHlink>
    </a:clrScheme>
    <a:fontScheme name="zhiye-roadshow-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hiye-roadshow-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2026-10-13T07:46:10Z</dcterms:created>
  <dcterms:modified xsi:type="dcterms:W3CDTF">2026-10-13T07:46:10Z</dcterms:modified>
  <cp:category/>
  <cp:contentStatus/>
</cp:coreProperties>
</file>