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各位评委好，我们的项目叫知野，是面向乡村小学教师的课堂复盘数字员工。它从一节课的记录出发，把内容整理成教师可以审核、学生可以使用的材料，让每一节课成为下一次教学的依据。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节课结束，教学支持还没有结束。乡村小学教师还要整理课堂重点，准备补讲材料，跟进学生疑问。这些工作需要反复回看课堂记录，也需要把零散信息转化为明确的教学行动。知野从这个具体环节切入，让课后整理的成果进入教师工作台，等待教师审核和使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关注的是三个相互关联的断点。对教师来说，复盘和材料准备挤占精力。对学生来说，遇到不会的步骤时，需要适合当前理解程度的提示，练习后也需要表达自己的思路。对后续教学来说，作业和提问分散，难以连续利用。我们希望让课堂记录成为持续学习支持的依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为此，知野把流程连接起来。教师提交课堂录音与教学目标，AI 转写并生成草稿，教师核对、修改和确认发布，学生再进行复习、练习和提问。学生的学习反馈回到教师端，支持下一次补讲与任务安排。整个流程中，AI 承担整理，教师保留教学判断。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具体来看，教师输入课堂录音和补讲目标，系统生成可以继续编辑的教学草稿。学生复习卡承接课堂重点和自检问题，教师课堂报告整理课堂依据与教学建议，还可以衔接补讲教案和练习。页面展示的是当前产品原型。我们的设计重点，是让生成成果真正进入后续教学流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生成之后，教师首先要判断建议是否有依据。知野保留原始转写供教师核对，并将课堂事实与 AI 推断分开呈现。教师在课堂详情中查看转写、复习卡、报告和进度，核实建议与证据的关联，再决定是否采用。这一机制提供了可追溯的审核入口，材料质量仍需要教师检查。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教师审核是课堂内容到达学生之前的关键节点。AI 初稿可以编辑，教师可以核对、修改和取舍，并在发布前确认。学生端看到的是已经发布的复习卡，课堂转写和教师报告不会公开。我们把生成与发布分开，让教师对最终教学内容保留决定权。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发布之后，学生可以用复习卡和任务巩固课堂内容，答疑流程则通过分层提示、思路复述和变式练习支持理解。学生的完成情况汇总到教师端班级洞察，形成班级聚合的学习信号，再支持下一课的教师草稿。这个草稿不会自动推送，仍由教师决定如何使用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这些能力背后是一条有状态、有依据的工具工作流。本地 FunASR 将音频转成文本，系统依据课堂文本提取证据，完成结构化生成，随后等待教师审核。每步保留状态和错误原因，并提供失败步骤的重试路径。本地模式下，音频与题图由本机处理，所需文本用于大模型生成。前端采用 React 和 TypeScript，服务端采用 FastAPI。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验证方面，项目 Day 08 的历史验收记录显示，一百八十一项前端测试、六十三项本地 AI 测试通过，类型检查和生产构建也通过。测试覆盖了无麦克风或空录音、缺少密钥、空转写和模型网络断开四类失败边界。现有证据支持原型的工程流程与异常边界检查。真实课堂的耗时、教师减负和学习提升仍待验证，我们没有把这些效果写成已经取得的结果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当前版本是同一浏览器内四端联动的演示原型，跨设备共享和正式账号认证尚未接入。下一步先用获准且脱敏的课堂音频完成真实流程验收，再开展小规模教师审核对照和持续反馈。我们将测量端到端耗时、转写可读性、证据一致性和教师修改量，用真实试用判断项目的价值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知野希望让每一间课堂长出自己的回响。让 AI 承担整理，让教师保留判断，让课堂记录继续支持孩子的学习。知其所学，野望生长。谢谢各位评委。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zhiye-roadsho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zhiye-roadsho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887fb6604d07465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405079f1a879ba6.jp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4b14b00b6c2fc55.jp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7f741ffb2cfe86d.jp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553d747ee366e65.jp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a9d88dbb3b060eb.jp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887fb6604d07465.png"/>
  <Relationship Id="rId3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alley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cover-title"/>
          <p:cNvGrpSpPr/>
          <p:nvPr/>
        </p:nvGrpSpPr>
        <p:grpSpPr>
          <a:xfrm>
            <a:off x="754380" y="441325"/>
            <a:ext cx="7472553" cy="2572893"/>
            <a:chOff x="754380" y="441325"/>
            <a:chExt cx="7472553" cy="2572893"/>
          </a:xfrm>
        </p:grpSpPr>
        <p:sp>
          <p:nvSpPr>
            <p:cNvPr id="3" name="TextBox 3"/>
            <p:cNvSpPr txBox="1"/>
            <p:nvPr/>
          </p:nvSpPr>
          <p:spPr>
            <a:xfrm>
              <a:off x="754380" y="441325"/>
              <a:ext cx="10463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知野 ZHIYE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6182" y="869950"/>
              <a:ext cx="1659636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700" b="1" dirty="0">
                  <a:solidFill>
                    <a:schemeClr val="accent1"/>
                  </a:solidFill>
                  <a:latin typeface="Arial"/>
                  <a:ea typeface="KaiTi"/>
                  <a:cs typeface="Arial"/>
                </a:rPr>
                <a:t>知野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383786" y="1866900"/>
              <a:ext cx="34244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课堂复盘数字员工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965067" y="2603500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让每一节课成为下一次教学的依据</a:t>
              </a:r>
            </a:p>
          </p:txBody>
        </p:sp>
      </p:grpSp>
      <p:grpSp>
        <p:nvGrpSpPr>
          <p:cNvPr id="11" name="cover-context"/>
          <p:cNvGrpSpPr/>
          <p:nvPr/>
        </p:nvGrpSpPr>
        <p:grpSpPr>
          <a:xfrm>
            <a:off x="3619500" y="3276600"/>
            <a:ext cx="4953000" cy="933450"/>
            <a:chOff x="3619500" y="3276600"/>
            <a:chExt cx="4953000" cy="933450"/>
          </a:xfrm>
        </p:grpSpPr>
        <p:sp>
          <p:nvSpPr>
            <p:cNvPr id="8" name="Rectangle 8"/>
            <p:cNvSpPr/>
            <p:nvPr/>
          </p:nvSpPr>
          <p:spPr>
            <a:xfrm>
              <a:off x="3619500" y="3276600"/>
              <a:ext cx="4953000" cy="933450"/>
            </a:xfrm>
            <a:prstGeom prst="roundRect">
              <a:avLst>
                <a:gd name="adj" fmla="val 2040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573905" y="346075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乡村小学课堂复盘与精准补讲原型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80660" y="38036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比赛路演 · 5 分钟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17398" y="447675"/>
            <a:ext cx="6392799" cy="978027"/>
            <a:chOff x="517398" y="447675"/>
            <a:chExt cx="6392799" cy="97802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7675"/>
              <a:ext cx="895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问题场景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09625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一节课结束，教学支持还没有结束</a:t>
              </a:r>
            </a:p>
          </p:txBody>
        </p:sp>
      </p:grpSp>
      <p:grpSp>
        <p:nvGrpSpPr>
          <p:cNvPr id="7" name="footer"/>
          <p:cNvGrpSpPr/>
          <p:nvPr/>
        </p:nvGrpSpPr>
        <p:grpSpPr>
          <a:xfrm>
            <a:off x="527304" y="6457950"/>
            <a:ext cx="11137392" cy="234696"/>
            <a:chOff x="527304" y="6457950"/>
            <a:chExt cx="11137392" cy="234696"/>
          </a:xfrm>
        </p:grpSpPr>
        <p:sp>
          <p:nvSpPr>
            <p:cNvPr id="5" name="TextBox 5"/>
            <p:cNvSpPr txBox="1"/>
            <p:nvPr/>
          </p:nvSpPr>
          <p:spPr>
            <a:xfrm>
              <a:off x="527304" y="6457950"/>
              <a:ext cx="813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知野 ZHIYE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1113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  <p:grpSp>
        <p:nvGrpSpPr>
          <p:cNvPr id="12" name="teacher-after-class"/>
          <p:cNvGrpSpPr/>
          <p:nvPr/>
        </p:nvGrpSpPr>
        <p:grpSpPr>
          <a:xfrm>
            <a:off x="520446" y="1828800"/>
            <a:ext cx="2832354" cy="4077970"/>
            <a:chOff x="520446" y="1828800"/>
            <a:chExt cx="2832354" cy="4077970"/>
          </a:xfrm>
        </p:grpSpPr>
        <p:sp>
          <p:nvSpPr>
            <p:cNvPr id="8" name="TextBox 8"/>
            <p:cNvSpPr txBox="1"/>
            <p:nvPr/>
          </p:nvSpPr>
          <p:spPr>
            <a:xfrm>
              <a:off x="520446" y="1828800"/>
              <a:ext cx="1969008" cy="1003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75"/>
                </a:lnSpc>
              </a:pPr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课后还有一轮</a:t>
              </a:r>
              <a:b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整理与跟进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33400" y="30480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2732" y="3124200"/>
              <a:ext cx="1621536" cy="1629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整理课堂重点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准备补讲材料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跟进学生疑问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5780" y="56134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场景：乡村小学教师</a:t>
              </a:r>
            </a:p>
          </p:txBody>
        </p:sp>
      </p:grpSp>
      <p:grpSp>
        <p:nvGrpSpPr>
          <p:cNvPr id="16" name="workspace-evidence"/>
          <p:cNvGrpSpPr/>
          <p:nvPr/>
        </p:nvGrpSpPr>
        <p:grpSpPr>
          <a:xfrm>
            <a:off x="3981450" y="1676400"/>
            <a:ext cx="7677150" cy="4478020"/>
            <a:chOff x="3981450" y="1676400"/>
            <a:chExt cx="7677150" cy="4478020"/>
          </a:xfrm>
        </p:grpSpPr>
        <p:sp>
          <p:nvSpPr>
            <p:cNvPr id="13" name="Rectangle 13"/>
            <p:cNvSpPr/>
            <p:nvPr/>
          </p:nvSpPr>
          <p:spPr>
            <a:xfrm>
              <a:off x="3981450" y="1676400"/>
              <a:ext cx="7677150" cy="4438650"/>
            </a:xfrm>
            <a:prstGeom prst="roundRect">
              <a:avLst>
                <a:gd name="adj" fmla="val 4292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83719" y="1809750"/>
              <a:ext cx="6472612" cy="404812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4278630" y="586105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知野教师工作台：把课后整理变成待审核成果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17398" y="447675"/>
            <a:ext cx="3848481" cy="978027"/>
            <a:chOff x="517398" y="447675"/>
            <a:chExt cx="3848481" cy="97802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7675"/>
              <a:ext cx="895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问题拆解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09625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教学支持的三个断点</a:t>
              </a:r>
            </a:p>
          </p:txBody>
        </p:sp>
      </p:grpSp>
      <p:grpSp>
        <p:nvGrpSpPr>
          <p:cNvPr id="7" name="footer"/>
          <p:cNvGrpSpPr/>
          <p:nvPr/>
        </p:nvGrpSpPr>
        <p:grpSpPr>
          <a:xfrm>
            <a:off x="527304" y="6457950"/>
            <a:ext cx="11137392" cy="234696"/>
            <a:chOff x="527304" y="6457950"/>
            <a:chExt cx="11137392" cy="234696"/>
          </a:xfrm>
        </p:grpSpPr>
        <p:sp>
          <p:nvSpPr>
            <p:cNvPr id="5" name="TextBox 5"/>
            <p:cNvSpPr txBox="1"/>
            <p:nvPr/>
          </p:nvSpPr>
          <p:spPr>
            <a:xfrm>
              <a:off x="527304" y="6457950"/>
              <a:ext cx="813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知野 ZHIYE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1113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  <p:grpSp>
        <p:nvGrpSpPr>
          <p:cNvPr id="12" name="gap-0"/>
          <p:cNvGrpSpPr/>
          <p:nvPr/>
        </p:nvGrpSpPr>
        <p:grpSpPr>
          <a:xfrm>
            <a:off x="520446" y="2022475"/>
            <a:ext cx="3118104" cy="2401443"/>
            <a:chOff x="520446" y="2022475"/>
            <a:chExt cx="3118104" cy="2401443"/>
          </a:xfrm>
        </p:grpSpPr>
        <p:sp>
          <p:nvSpPr>
            <p:cNvPr id="8" name="TextBox 8"/>
            <p:cNvSpPr txBox="1"/>
            <p:nvPr/>
          </p:nvSpPr>
          <p:spPr>
            <a:xfrm>
              <a:off x="525780" y="20224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教师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0446" y="2635250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复盘挤占精力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33400" y="3295650"/>
              <a:ext cx="3105150" cy="9525"/>
            </a:xfrm>
            <a:custGeom>
              <a:avLst/>
              <a:gdLst/>
              <a:ahLst/>
              <a:cxnLst/>
              <a:rect l="l" t="t" r="r" b="b"/>
              <a:pathLst>
                <a:path w="3105150" h="9525">
                  <a:moveTo>
                    <a:pt x="0" y="0"/>
                  </a:moveTo>
                  <a:lnTo>
                    <a:pt x="31051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2732" y="3517900"/>
              <a:ext cx="2154936" cy="906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课堂记录需要整理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补讲材料需要准备</a:t>
              </a:r>
            </a:p>
          </p:txBody>
        </p:sp>
      </p:grpSp>
      <p:grpSp>
        <p:nvGrpSpPr>
          <p:cNvPr id="17" name="gap-1"/>
          <p:cNvGrpSpPr/>
          <p:nvPr/>
        </p:nvGrpSpPr>
        <p:grpSpPr>
          <a:xfrm>
            <a:off x="4330446" y="2022475"/>
            <a:ext cx="3118104" cy="2401443"/>
            <a:chOff x="4330446" y="2022475"/>
            <a:chExt cx="3118104" cy="2401443"/>
          </a:xfrm>
        </p:grpSpPr>
        <p:sp>
          <p:nvSpPr>
            <p:cNvPr id="13" name="TextBox 13"/>
            <p:cNvSpPr txBox="1"/>
            <p:nvPr/>
          </p:nvSpPr>
          <p:spPr>
            <a:xfrm>
              <a:off x="4335780" y="20224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0446" y="2635250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卡点缺少引导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343400" y="3295650"/>
              <a:ext cx="3105150" cy="9525"/>
            </a:xfrm>
            <a:custGeom>
              <a:avLst/>
              <a:gdLst/>
              <a:ahLst/>
              <a:cxnLst/>
              <a:rect l="l" t="t" r="r" b="b"/>
              <a:pathLst>
                <a:path w="3105150" h="9525">
                  <a:moveTo>
                    <a:pt x="0" y="0"/>
                  </a:moveTo>
                  <a:lnTo>
                    <a:pt x="31051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32732" y="3517900"/>
              <a:ext cx="2421636" cy="906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不会的步骤需要提示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练习后需要表达理解</a:t>
              </a:r>
            </a:p>
          </p:txBody>
        </p:sp>
      </p:grpSp>
      <p:grpSp>
        <p:nvGrpSpPr>
          <p:cNvPr id="22" name="gap-2"/>
          <p:cNvGrpSpPr/>
          <p:nvPr/>
        </p:nvGrpSpPr>
        <p:grpSpPr>
          <a:xfrm>
            <a:off x="8140446" y="2022475"/>
            <a:ext cx="3118104" cy="2401443"/>
            <a:chOff x="8140446" y="2022475"/>
            <a:chExt cx="3118104" cy="2401443"/>
          </a:xfrm>
        </p:grpSpPr>
        <p:sp>
          <p:nvSpPr>
            <p:cNvPr id="18" name="TextBox 18"/>
            <p:cNvSpPr txBox="1"/>
            <p:nvPr/>
          </p:nvSpPr>
          <p:spPr>
            <a:xfrm>
              <a:off x="8145780" y="20224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教学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40446" y="2635250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反馈难连续利用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153400" y="3295650"/>
              <a:ext cx="3105150" cy="9525"/>
            </a:xfrm>
            <a:custGeom>
              <a:avLst/>
              <a:gdLst/>
              <a:ahLst/>
              <a:cxnLst/>
              <a:rect l="l" t="t" r="r" b="b"/>
              <a:pathLst>
                <a:path w="3105150" h="9525">
                  <a:moveTo>
                    <a:pt x="0" y="0"/>
                  </a:moveTo>
                  <a:lnTo>
                    <a:pt x="31051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2732" y="3517900"/>
              <a:ext cx="2154936" cy="906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作业与提问分散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难衔接下一次教学</a:t>
              </a:r>
            </a:p>
          </p:txBody>
        </p:sp>
      </p:grpSp>
      <p:grpSp>
        <p:nvGrpSpPr>
          <p:cNvPr id="25" name="gap-takeaway"/>
          <p:cNvGrpSpPr/>
          <p:nvPr/>
        </p:nvGrpSpPr>
        <p:grpSpPr>
          <a:xfrm>
            <a:off x="533400" y="5295900"/>
            <a:ext cx="11125200" cy="809625"/>
            <a:chOff x="533400" y="5295900"/>
            <a:chExt cx="11125200" cy="809625"/>
          </a:xfrm>
        </p:grpSpPr>
        <p:sp>
          <p:nvSpPr>
            <p:cNvPr id="23" name="Rectangle 23"/>
            <p:cNvSpPr/>
            <p:nvPr/>
          </p:nvSpPr>
          <p:spPr>
            <a:xfrm>
              <a:off x="533400" y="5295900"/>
              <a:ext cx="11125200" cy="809625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4296" y="5492750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课堂记录，需要成为持续学习支持的依据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17398" y="447675"/>
            <a:ext cx="4696587" cy="978027"/>
            <a:chOff x="517398" y="447675"/>
            <a:chExt cx="4696587" cy="97802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7675"/>
              <a:ext cx="895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解决方案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09625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课堂到下一课的完整闭环</a:t>
              </a:r>
            </a:p>
          </p:txBody>
        </p:sp>
      </p:grpSp>
      <p:grpSp>
        <p:nvGrpSpPr>
          <p:cNvPr id="7" name="footer"/>
          <p:cNvGrpSpPr/>
          <p:nvPr/>
        </p:nvGrpSpPr>
        <p:grpSpPr>
          <a:xfrm>
            <a:off x="527304" y="6457950"/>
            <a:ext cx="11137392" cy="234696"/>
            <a:chOff x="527304" y="6457950"/>
            <a:chExt cx="11137392" cy="234696"/>
          </a:xfrm>
        </p:grpSpPr>
        <p:sp>
          <p:nvSpPr>
            <p:cNvPr id="5" name="TextBox 5"/>
            <p:cNvSpPr txBox="1"/>
            <p:nvPr/>
          </p:nvSpPr>
          <p:spPr>
            <a:xfrm>
              <a:off x="527304" y="6457950"/>
              <a:ext cx="813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知野 ZHIYE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1113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  <p:grpSp>
        <p:nvGrpSpPr>
          <p:cNvPr id="24" name="workflow"/>
          <p:cNvGrpSpPr/>
          <p:nvPr/>
        </p:nvGrpSpPr>
        <p:grpSpPr>
          <a:xfrm>
            <a:off x="533400" y="2333625"/>
            <a:ext cx="11106150" cy="1468120"/>
            <a:chOff x="533400" y="2333625"/>
            <a:chExt cx="11106150" cy="1468120"/>
          </a:xfrm>
        </p:grpSpPr>
        <p:sp>
          <p:nvSpPr>
            <p:cNvPr id="8" name="Line 8"/>
            <p:cNvSpPr/>
            <p:nvPr/>
          </p:nvSpPr>
          <p:spPr>
            <a:xfrm>
              <a:off x="1066800" y="272415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2333625"/>
              <a:ext cx="1809750" cy="781050"/>
            </a:xfrm>
            <a:prstGeom prst="roundRect">
              <a:avLst>
                <a:gd name="adj" fmla="val 243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203" y="25844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课堂记录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3900" y="3508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音频与教学目标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57500" y="2333625"/>
              <a:ext cx="1809750" cy="781050"/>
            </a:xfrm>
            <a:prstGeom prst="roundRect">
              <a:avLst>
                <a:gd name="adj" fmla="val 243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88662" y="2584450"/>
              <a:ext cx="9474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整理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48000" y="3508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转写与生成草稿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181600" y="2333625"/>
              <a:ext cx="1809750" cy="781050"/>
            </a:xfrm>
            <a:prstGeom prst="roundRect">
              <a:avLst>
                <a:gd name="adj" fmla="val 24390"/>
              </a:avLst>
            </a:prstGeom>
            <a:solidFill>
              <a:srgbClr val="EEE3C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10403" y="25844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教师审核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71135" y="3508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核对、修改、发布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05700" y="2333625"/>
              <a:ext cx="1809750" cy="781050"/>
            </a:xfrm>
            <a:prstGeom prst="roundRect">
              <a:avLst>
                <a:gd name="adj" fmla="val 243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34503" y="25844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学生学习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95235" y="3508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复习、练习、提问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829800" y="2333625"/>
              <a:ext cx="1809750" cy="781050"/>
            </a:xfrm>
            <a:prstGeom prst="roundRect">
              <a:avLst>
                <a:gd name="adj" fmla="val 243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58603" y="25844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反馈回流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20300" y="3508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下一课教学依据</a:t>
              </a:r>
            </a:p>
          </p:txBody>
        </p:sp>
      </p:grpSp>
      <p:grpSp>
        <p:nvGrpSpPr>
          <p:cNvPr id="28" name="workflow-return"/>
          <p:cNvGrpSpPr/>
          <p:nvPr/>
        </p:nvGrpSpPr>
        <p:grpSpPr>
          <a:xfrm>
            <a:off x="533400" y="4762500"/>
            <a:ext cx="11125200" cy="1323975"/>
            <a:chOff x="533400" y="4762500"/>
            <a:chExt cx="11125200" cy="1323975"/>
          </a:xfrm>
        </p:grpSpPr>
        <p:sp>
          <p:nvSpPr>
            <p:cNvPr id="25" name="Rectangle 25"/>
            <p:cNvSpPr/>
            <p:nvPr/>
          </p:nvSpPr>
          <p:spPr>
            <a:xfrm>
              <a:off x="533400" y="4762500"/>
              <a:ext cx="11125200" cy="1323975"/>
            </a:xfrm>
            <a:prstGeom prst="roundRect">
              <a:avLst>
                <a:gd name="adj" fmla="val 1438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5246" y="4911725"/>
              <a:ext cx="42399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承担整理，教师保留判断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7532" y="550862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学习反馈回到教师端，支持下一次补讲与任务安排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17398" y="447675"/>
            <a:ext cx="5120640" cy="978027"/>
            <a:chOff x="517398" y="447675"/>
            <a:chExt cx="5120640" cy="97802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7675"/>
              <a:ext cx="895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产品成果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09625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录下课堂，生成可用的草稿</a:t>
              </a:r>
            </a:p>
          </p:txBody>
        </p:sp>
      </p:grpSp>
      <p:grpSp>
        <p:nvGrpSpPr>
          <p:cNvPr id="7" name="footer"/>
          <p:cNvGrpSpPr/>
          <p:nvPr/>
        </p:nvGrpSpPr>
        <p:grpSpPr>
          <a:xfrm>
            <a:off x="527304" y="6457950"/>
            <a:ext cx="11137392" cy="234696"/>
            <a:chOff x="527304" y="6457950"/>
            <a:chExt cx="11137392" cy="234696"/>
          </a:xfrm>
        </p:grpSpPr>
        <p:sp>
          <p:nvSpPr>
            <p:cNvPr id="5" name="TextBox 5"/>
            <p:cNvSpPr txBox="1"/>
            <p:nvPr/>
          </p:nvSpPr>
          <p:spPr>
            <a:xfrm>
              <a:off x="527304" y="6457950"/>
              <a:ext cx="813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知野 ZHIYE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1113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  <p:grpSp>
        <p:nvGrpSpPr>
          <p:cNvPr id="11" name="recording-evidence"/>
          <p:cNvGrpSpPr/>
          <p:nvPr/>
        </p:nvGrpSpPr>
        <p:grpSpPr>
          <a:xfrm>
            <a:off x="533400" y="1695450"/>
            <a:ext cx="7562850" cy="4468495"/>
            <a:chOff x="533400" y="1695450"/>
            <a:chExt cx="7562850" cy="4468495"/>
          </a:xfrm>
        </p:grpSpPr>
        <p:sp>
          <p:nvSpPr>
            <p:cNvPr id="8" name="Rectangle 8"/>
            <p:cNvSpPr/>
            <p:nvPr/>
          </p:nvSpPr>
          <p:spPr>
            <a:xfrm>
              <a:off x="533400" y="1695450"/>
              <a:ext cx="7562850" cy="4448175"/>
            </a:xfrm>
            <a:prstGeom prst="roundRect">
              <a:avLst>
                <a:gd name="adj" fmla="val 4283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0904" y="1790700"/>
              <a:ext cx="6487841" cy="405765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811530" y="5870575"/>
              <a:ext cx="2480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输入：课堂录音 + 补讲目标</a:t>
              </a:r>
            </a:p>
          </p:txBody>
        </p:sp>
      </p:grpSp>
      <p:grpSp>
        <p:nvGrpSpPr>
          <p:cNvPr id="20" name="draft-results"/>
          <p:cNvGrpSpPr/>
          <p:nvPr/>
        </p:nvGrpSpPr>
        <p:grpSpPr>
          <a:xfrm>
            <a:off x="8371332" y="1936750"/>
            <a:ext cx="3153918" cy="3608070"/>
            <a:chOff x="8371332" y="1936750"/>
            <a:chExt cx="3153918" cy="3608070"/>
          </a:xfrm>
        </p:grpSpPr>
        <p:sp>
          <p:nvSpPr>
            <p:cNvPr id="12" name="TextBox 12"/>
            <p:cNvSpPr txBox="1"/>
            <p:nvPr/>
          </p:nvSpPr>
          <p:spPr>
            <a:xfrm>
              <a:off x="8371332" y="193675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成果进入教学流程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382000" y="255270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1332" y="282257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学生复习卡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4380" y="33083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课堂重点与自检问题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1332" y="37941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教师课堂报告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4380" y="42799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课堂依据与教学建议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71332" y="476567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补讲教案与练习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74380" y="52514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支持下一次教学安排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17398" y="447675"/>
            <a:ext cx="4696587" cy="978027"/>
            <a:chOff x="517398" y="447675"/>
            <a:chExt cx="4696587" cy="97802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7675"/>
              <a:ext cx="1218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可追溯的复盘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09625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每条建议，都有课堂依据</a:t>
              </a:r>
            </a:p>
          </p:txBody>
        </p:sp>
      </p:grpSp>
      <p:grpSp>
        <p:nvGrpSpPr>
          <p:cNvPr id="7" name="footer"/>
          <p:cNvGrpSpPr/>
          <p:nvPr/>
        </p:nvGrpSpPr>
        <p:grpSpPr>
          <a:xfrm>
            <a:off x="527304" y="6457950"/>
            <a:ext cx="11137392" cy="234696"/>
            <a:chOff x="527304" y="6457950"/>
            <a:chExt cx="11137392" cy="234696"/>
          </a:xfrm>
        </p:grpSpPr>
        <p:sp>
          <p:nvSpPr>
            <p:cNvPr id="5" name="TextBox 5"/>
            <p:cNvSpPr txBox="1"/>
            <p:nvPr/>
          </p:nvSpPr>
          <p:spPr>
            <a:xfrm>
              <a:off x="527304" y="6457950"/>
              <a:ext cx="813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知野 ZHIYE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1113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  <p:grpSp>
        <p:nvGrpSpPr>
          <p:cNvPr id="12" name="evidence-mechanism"/>
          <p:cNvGrpSpPr/>
          <p:nvPr/>
        </p:nvGrpSpPr>
        <p:grpSpPr>
          <a:xfrm>
            <a:off x="520446" y="1828800"/>
            <a:ext cx="3289554" cy="4097020"/>
            <a:chOff x="520446" y="1828800"/>
            <a:chExt cx="3289554" cy="4097020"/>
          </a:xfrm>
        </p:grpSpPr>
        <p:sp>
          <p:nvSpPr>
            <p:cNvPr id="8" name="TextBox 8"/>
            <p:cNvSpPr txBox="1"/>
            <p:nvPr/>
          </p:nvSpPr>
          <p:spPr>
            <a:xfrm>
              <a:off x="520446" y="1828800"/>
              <a:ext cx="2292858" cy="1003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75"/>
                </a:lnSpc>
              </a:pPr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先核对课堂事实</a:t>
              </a:r>
              <a:b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再判断教学建议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33400" y="3171825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2732" y="3276600"/>
              <a:ext cx="2154936" cy="1515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原始转写可核对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建议关联课堂证据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教师核实后取舍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5780" y="5632450"/>
              <a:ext cx="25613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课堂事实与 AI 推断分开呈现</a:t>
              </a:r>
            </a:p>
          </p:txBody>
        </p:sp>
      </p:grpSp>
      <p:grpSp>
        <p:nvGrpSpPr>
          <p:cNvPr id="16" name="lesson-evidence"/>
          <p:cNvGrpSpPr/>
          <p:nvPr/>
        </p:nvGrpSpPr>
        <p:grpSpPr>
          <a:xfrm>
            <a:off x="4362450" y="1676400"/>
            <a:ext cx="7296150" cy="4419600"/>
            <a:chOff x="4362450" y="1676400"/>
            <a:chExt cx="7296150" cy="4419600"/>
          </a:xfrm>
        </p:grpSpPr>
        <p:sp>
          <p:nvSpPr>
            <p:cNvPr id="13" name="Rectangle 13"/>
            <p:cNvSpPr/>
            <p:nvPr/>
          </p:nvSpPr>
          <p:spPr>
            <a:xfrm>
              <a:off x="4362450" y="1676400"/>
              <a:ext cx="7296150" cy="4419600"/>
            </a:xfrm>
            <a:prstGeom prst="roundRect">
              <a:avLst>
                <a:gd name="adj" fmla="val 4310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57982" y="1809750"/>
              <a:ext cx="6305085" cy="394335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4621530" y="57848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课堂详情：转写、复习卡、报告与进度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17398" y="447675"/>
            <a:ext cx="4272534" cy="978027"/>
            <a:chOff x="517398" y="447675"/>
            <a:chExt cx="4272534" cy="97802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7675"/>
              <a:ext cx="895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人工确认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09625"/>
              <a:ext cx="427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教师审核，才抵达学生</a:t>
              </a:r>
            </a:p>
          </p:txBody>
        </p:sp>
      </p:grpSp>
      <p:grpSp>
        <p:nvGrpSpPr>
          <p:cNvPr id="7" name="footer"/>
          <p:cNvGrpSpPr/>
          <p:nvPr/>
        </p:nvGrpSpPr>
        <p:grpSpPr>
          <a:xfrm>
            <a:off x="527304" y="6457950"/>
            <a:ext cx="11137392" cy="234696"/>
            <a:chOff x="527304" y="6457950"/>
            <a:chExt cx="11137392" cy="234696"/>
          </a:xfrm>
        </p:grpSpPr>
        <p:sp>
          <p:nvSpPr>
            <p:cNvPr id="5" name="TextBox 5"/>
            <p:cNvSpPr txBox="1"/>
            <p:nvPr/>
          </p:nvSpPr>
          <p:spPr>
            <a:xfrm>
              <a:off x="527304" y="6457950"/>
              <a:ext cx="813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知野 ZHIYE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1113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  <p:grpSp>
        <p:nvGrpSpPr>
          <p:cNvPr id="14" name="publication-gate"/>
          <p:cNvGrpSpPr/>
          <p:nvPr/>
        </p:nvGrpSpPr>
        <p:grpSpPr>
          <a:xfrm>
            <a:off x="520446" y="1911350"/>
            <a:ext cx="3918204" cy="4014470"/>
            <a:chOff x="520446" y="1911350"/>
            <a:chExt cx="3918204" cy="4014470"/>
          </a:xfrm>
        </p:grpSpPr>
        <p:sp>
          <p:nvSpPr>
            <p:cNvPr id="8" name="TextBox 8"/>
            <p:cNvSpPr txBox="1"/>
            <p:nvPr/>
          </p:nvSpPr>
          <p:spPr>
            <a:xfrm>
              <a:off x="520446" y="1911350"/>
              <a:ext cx="11504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初稿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0446" y="2616200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教师编辑与确认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0446" y="3321050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发布给学生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33400" y="405765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2732" y="4232275"/>
              <a:ext cx="2955036" cy="906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教师可核对、修改和取舍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学生看到已发布复习卡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5780" y="56324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课堂转写与教师报告不公开</a:t>
              </a:r>
            </a:p>
          </p:txBody>
        </p:sp>
      </p:grpSp>
      <p:grpSp>
        <p:nvGrpSpPr>
          <p:cNvPr id="18" name="student-published-view"/>
          <p:cNvGrpSpPr/>
          <p:nvPr/>
        </p:nvGrpSpPr>
        <p:grpSpPr>
          <a:xfrm>
            <a:off x="4953000" y="1695450"/>
            <a:ext cx="6705600" cy="4400550"/>
            <a:chOff x="4953000" y="1695450"/>
            <a:chExt cx="6705600" cy="4400550"/>
          </a:xfrm>
        </p:grpSpPr>
        <p:sp>
          <p:nvSpPr>
            <p:cNvPr id="15" name="Rectangle 15"/>
            <p:cNvSpPr/>
            <p:nvPr/>
          </p:nvSpPr>
          <p:spPr>
            <a:xfrm>
              <a:off x="4953000" y="1695450"/>
              <a:ext cx="6705600" cy="4400550"/>
            </a:xfrm>
            <a:prstGeom prst="roundRect">
              <a:avLst>
                <a:gd name="adj" fmla="val 4329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60872" y="1809750"/>
              <a:ext cx="6289856" cy="3933825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5212080" y="57848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学生端课堂复习页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17398" y="447675"/>
            <a:ext cx="4696587" cy="978027"/>
            <a:chOff x="517398" y="447675"/>
            <a:chExt cx="4696587" cy="97802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7675"/>
              <a:ext cx="895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反馈闭环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09625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学生学习，再回到下一课</a:t>
              </a:r>
            </a:p>
          </p:txBody>
        </p:sp>
      </p:grpSp>
      <p:grpSp>
        <p:nvGrpSpPr>
          <p:cNvPr id="7" name="footer"/>
          <p:cNvGrpSpPr/>
          <p:nvPr/>
        </p:nvGrpSpPr>
        <p:grpSpPr>
          <a:xfrm>
            <a:off x="527304" y="6457950"/>
            <a:ext cx="11137392" cy="234696"/>
            <a:chOff x="527304" y="6457950"/>
            <a:chExt cx="11137392" cy="234696"/>
          </a:xfrm>
        </p:grpSpPr>
        <p:sp>
          <p:nvSpPr>
            <p:cNvPr id="5" name="TextBox 5"/>
            <p:cNvSpPr txBox="1"/>
            <p:nvPr/>
          </p:nvSpPr>
          <p:spPr>
            <a:xfrm>
              <a:off x="527304" y="6457950"/>
              <a:ext cx="813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知野 ZHIYE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1113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  <p:grpSp>
        <p:nvGrpSpPr>
          <p:cNvPr id="11" name="insights-evidence"/>
          <p:cNvGrpSpPr/>
          <p:nvPr/>
        </p:nvGrpSpPr>
        <p:grpSpPr>
          <a:xfrm>
            <a:off x="533400" y="1695450"/>
            <a:ext cx="7562850" cy="4468495"/>
            <a:chOff x="533400" y="1695450"/>
            <a:chExt cx="7562850" cy="4468495"/>
          </a:xfrm>
        </p:grpSpPr>
        <p:sp>
          <p:nvSpPr>
            <p:cNvPr id="8" name="Rectangle 8"/>
            <p:cNvSpPr/>
            <p:nvPr/>
          </p:nvSpPr>
          <p:spPr>
            <a:xfrm>
              <a:off x="533400" y="1695450"/>
              <a:ext cx="7562850" cy="4448175"/>
            </a:xfrm>
            <a:prstGeom prst="roundRect">
              <a:avLst>
                <a:gd name="adj" fmla="val 4283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0904" y="1790700"/>
              <a:ext cx="6487841" cy="405765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811530" y="58705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教师端班级洞察：汇总学习信号</a:t>
              </a:r>
            </a:p>
          </p:txBody>
        </p:sp>
      </p:grpSp>
      <p:grpSp>
        <p:nvGrpSpPr>
          <p:cNvPr id="18" name="feedback-meaning"/>
          <p:cNvGrpSpPr/>
          <p:nvPr/>
        </p:nvGrpSpPr>
        <p:grpSpPr>
          <a:xfrm>
            <a:off x="8371332" y="1917700"/>
            <a:ext cx="3153918" cy="4001643"/>
            <a:chOff x="8371332" y="1917700"/>
            <a:chExt cx="3153918" cy="4001643"/>
          </a:xfrm>
        </p:grpSpPr>
        <p:sp>
          <p:nvSpPr>
            <p:cNvPr id="12" name="TextBox 12"/>
            <p:cNvSpPr txBox="1"/>
            <p:nvPr/>
          </p:nvSpPr>
          <p:spPr>
            <a:xfrm>
              <a:off x="8371332" y="19177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学生学习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74380" y="2374900"/>
              <a:ext cx="1729740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复习卡与任务</a:t>
              </a:r>
              <a:b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分层提示、思路复述</a:t>
              </a:r>
              <a:b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变式练习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382000" y="361950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71332" y="388937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反馈回到教师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4380" y="4346575"/>
              <a:ext cx="17297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显示班级聚合信号</a:t>
              </a:r>
              <a:b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形成下一课教师草稿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1332" y="550862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草稿不自动推送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17398" y="447675"/>
            <a:ext cx="5120640" cy="978027"/>
            <a:chOff x="517398" y="447675"/>
            <a:chExt cx="5120640" cy="97802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7675"/>
              <a:ext cx="895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核心机制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09625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有状态、有依据的工具编排</a:t>
              </a:r>
            </a:p>
          </p:txBody>
        </p:sp>
      </p:grpSp>
      <p:grpSp>
        <p:nvGrpSpPr>
          <p:cNvPr id="7" name="footer"/>
          <p:cNvGrpSpPr/>
          <p:nvPr/>
        </p:nvGrpSpPr>
        <p:grpSpPr>
          <a:xfrm>
            <a:off x="527304" y="6457950"/>
            <a:ext cx="11137392" cy="234696"/>
            <a:chOff x="527304" y="6457950"/>
            <a:chExt cx="11137392" cy="234696"/>
          </a:xfrm>
        </p:grpSpPr>
        <p:sp>
          <p:nvSpPr>
            <p:cNvPr id="5" name="TextBox 5"/>
            <p:cNvSpPr txBox="1"/>
            <p:nvPr/>
          </p:nvSpPr>
          <p:spPr>
            <a:xfrm>
              <a:off x="527304" y="6457950"/>
              <a:ext cx="813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知野 ZHIYE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1113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  <p:grpSp>
        <p:nvGrpSpPr>
          <p:cNvPr id="21" name="agent-chain"/>
          <p:cNvGrpSpPr/>
          <p:nvPr/>
        </p:nvGrpSpPr>
        <p:grpSpPr>
          <a:xfrm>
            <a:off x="533400" y="2124075"/>
            <a:ext cx="11049000" cy="1658620"/>
            <a:chOff x="533400" y="2124075"/>
            <a:chExt cx="11049000" cy="1658620"/>
          </a:xfrm>
        </p:grpSpPr>
        <p:sp>
          <p:nvSpPr>
            <p:cNvPr id="8" name="Line 8"/>
            <p:cNvSpPr/>
            <p:nvPr/>
          </p:nvSpPr>
          <p:spPr>
            <a:xfrm>
              <a:off x="1076325" y="2600325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2124075"/>
              <a:ext cx="2476500" cy="981075"/>
            </a:xfrm>
            <a:prstGeom prst="roundRect">
              <a:avLst>
                <a:gd name="adj" fmla="val 1941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5578" y="24415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本地转写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2015" y="3489325"/>
              <a:ext cx="1779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FunASR 音频转文本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90900" y="2124075"/>
              <a:ext cx="2476500" cy="981075"/>
            </a:xfrm>
            <a:prstGeom prst="roundRect">
              <a:avLst>
                <a:gd name="adj" fmla="val 1941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70376" y="244157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提取课堂证据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13810" y="3489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依据原始课堂文本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2124075"/>
              <a:ext cx="2476500" cy="981075"/>
            </a:xfrm>
            <a:prstGeom prst="roundRect">
              <a:avLst>
                <a:gd name="adj" fmla="val 1941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69227" y="244157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结构化生成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71310" y="3489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复习卡与教学草稿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105900" y="2124075"/>
              <a:ext cx="2476500" cy="981075"/>
            </a:xfrm>
            <a:prstGeom prst="roundRect">
              <a:avLst>
                <a:gd name="adj" fmla="val 19417"/>
              </a:avLst>
            </a:prstGeom>
            <a:solidFill>
              <a:srgbClr val="EEE3C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85376" y="244157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等待教师审核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629775" y="34893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人工确认后发布</a:t>
              </a:r>
            </a:p>
          </p:txBody>
        </p:sp>
      </p:grpSp>
      <p:grpSp>
        <p:nvGrpSpPr>
          <p:cNvPr id="26" name="runtime-boundary"/>
          <p:cNvGrpSpPr/>
          <p:nvPr/>
        </p:nvGrpSpPr>
        <p:grpSpPr>
          <a:xfrm>
            <a:off x="533400" y="4524375"/>
            <a:ext cx="11125200" cy="1676400"/>
            <a:chOff x="533400" y="4524375"/>
            <a:chExt cx="11125200" cy="1676400"/>
          </a:xfrm>
        </p:grpSpPr>
        <p:sp>
          <p:nvSpPr>
            <p:cNvPr id="22" name="Rectangle 22"/>
            <p:cNvSpPr/>
            <p:nvPr/>
          </p:nvSpPr>
          <p:spPr>
            <a:xfrm>
              <a:off x="533400" y="4524375"/>
              <a:ext cx="11125200" cy="1676400"/>
            </a:xfrm>
            <a:prstGeom prst="roundRect">
              <a:avLst>
                <a:gd name="adj" fmla="val 11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7532" y="4708525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各步保留状态与错误原因，失败步骤可重试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0580" y="5270500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本地模式：音频与题图由本机处理，所需文本用于大模型生成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0580" y="5680075"/>
              <a:ext cx="38822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当前原型：React / TypeScript + FastAPI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17398" y="447675"/>
            <a:ext cx="7240905" cy="978027"/>
            <a:chOff x="517398" y="447675"/>
            <a:chExt cx="7240905" cy="97802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7675"/>
              <a:ext cx="895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验证结果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09625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已完成工程验收，真实课堂效果待验证</a:t>
              </a:r>
            </a:p>
          </p:txBody>
        </p:sp>
      </p:grpSp>
      <p:grpSp>
        <p:nvGrpSpPr>
          <p:cNvPr id="7" name="footer"/>
          <p:cNvGrpSpPr/>
          <p:nvPr/>
        </p:nvGrpSpPr>
        <p:grpSpPr>
          <a:xfrm>
            <a:off x="527304" y="6457950"/>
            <a:ext cx="11137392" cy="234696"/>
            <a:chOff x="527304" y="6457950"/>
            <a:chExt cx="11137392" cy="234696"/>
          </a:xfrm>
        </p:grpSpPr>
        <p:sp>
          <p:nvSpPr>
            <p:cNvPr id="5" name="TextBox 5"/>
            <p:cNvSpPr txBox="1"/>
            <p:nvPr/>
          </p:nvSpPr>
          <p:spPr>
            <a:xfrm>
              <a:off x="527304" y="6457950"/>
              <a:ext cx="813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知野 ZHIYE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1113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</p:grpSp>
      <p:grpSp>
        <p:nvGrpSpPr>
          <p:cNvPr id="15" name="engineering-results"/>
          <p:cNvGrpSpPr/>
          <p:nvPr/>
        </p:nvGrpSpPr>
        <p:grpSpPr>
          <a:xfrm>
            <a:off x="533400" y="1781175"/>
            <a:ext cx="11125200" cy="2543175"/>
            <a:chOff x="533400" y="1781175"/>
            <a:chExt cx="11125200" cy="2543175"/>
          </a:xfrm>
        </p:grpSpPr>
        <p:sp>
          <p:nvSpPr>
            <p:cNvPr id="8" name="Rectangle 8"/>
            <p:cNvSpPr/>
            <p:nvPr/>
          </p:nvSpPr>
          <p:spPr>
            <a:xfrm>
              <a:off x="533400" y="1781175"/>
              <a:ext cx="11125200" cy="2543175"/>
            </a:xfrm>
            <a:prstGeom prst="roundRect">
              <a:avLst>
                <a:gd name="adj" fmla="val 74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580" y="20320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项目历史验收记录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9150" y="2492375"/>
              <a:ext cx="1437475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181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7532" y="36322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前端测试通过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95850" y="2492375"/>
              <a:ext cx="971017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04232" y="3632200"/>
              <a:ext cx="21506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 AI 测试通过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18982" y="2390775"/>
              <a:ext cx="1621536" cy="963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类型检查通过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生产构建通过</a:t>
              </a:r>
            </a:p>
          </p:txBody>
        </p:sp>
      </p:grpSp>
      <p:grpSp>
        <p:nvGrpSpPr>
          <p:cNvPr id="18" name="failure-boundaries"/>
          <p:cNvGrpSpPr/>
          <p:nvPr/>
        </p:nvGrpSpPr>
        <p:grpSpPr>
          <a:xfrm>
            <a:off x="522732" y="4708525"/>
            <a:ext cx="4894898" cy="760095"/>
            <a:chOff x="522732" y="4708525"/>
            <a:chExt cx="4894898" cy="760095"/>
          </a:xfrm>
        </p:grpSpPr>
        <p:sp>
          <p:nvSpPr>
            <p:cNvPr id="16" name="TextBox 16"/>
            <p:cNvSpPr txBox="1"/>
            <p:nvPr/>
          </p:nvSpPr>
          <p:spPr>
            <a:xfrm>
              <a:off x="522732" y="470852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已覆盖四类失败边界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5780" y="5175250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无麦克风 / 空录音、缺少密钥、空转写、模型网络断开</a:t>
              </a:r>
            </a:p>
          </p:txBody>
        </p:sp>
      </p:grpSp>
      <p:grpSp>
        <p:nvGrpSpPr>
          <p:cNvPr id="21" name="verification-scope"/>
          <p:cNvGrpSpPr/>
          <p:nvPr/>
        </p:nvGrpSpPr>
        <p:grpSpPr>
          <a:xfrm>
            <a:off x="525780" y="5775325"/>
            <a:ext cx="4659630" cy="498221"/>
            <a:chOff x="525780" y="5775325"/>
            <a:chExt cx="4659630" cy="498221"/>
          </a:xfrm>
        </p:grpSpPr>
        <p:sp>
          <p:nvSpPr>
            <p:cNvPr id="19" name="TextBox 19"/>
            <p:cNvSpPr txBox="1"/>
            <p:nvPr/>
          </p:nvSpPr>
          <p:spPr>
            <a:xfrm>
              <a:off x="525780" y="57753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尚未形成真实课堂的耗时、教师减负或学习提升数据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304" y="6038850"/>
              <a:ext cx="4005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来源：项目 Day 08 验收记录；测试通过数量为当时记录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17398" y="447675"/>
            <a:ext cx="4696587" cy="978027"/>
            <a:chOff x="517398" y="447675"/>
            <a:chExt cx="4696587" cy="978027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47675"/>
              <a:ext cx="895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落地验证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09625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下一步：小规模教师试用</a:t>
              </a:r>
            </a:p>
          </p:txBody>
        </p:sp>
      </p:grpSp>
      <p:grpSp>
        <p:nvGrpSpPr>
          <p:cNvPr id="7" name="footer"/>
          <p:cNvGrpSpPr/>
          <p:nvPr/>
        </p:nvGrpSpPr>
        <p:grpSpPr>
          <a:xfrm>
            <a:off x="527304" y="6457950"/>
            <a:ext cx="11137392" cy="234696"/>
            <a:chOff x="527304" y="6457950"/>
            <a:chExt cx="11137392" cy="234696"/>
          </a:xfrm>
        </p:grpSpPr>
        <p:sp>
          <p:nvSpPr>
            <p:cNvPr id="5" name="TextBox 5"/>
            <p:cNvSpPr txBox="1"/>
            <p:nvPr/>
          </p:nvSpPr>
          <p:spPr>
            <a:xfrm>
              <a:off x="527304" y="6457950"/>
              <a:ext cx="813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知野 ZHIYE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111332" y="64579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  <p:grpSp>
        <p:nvGrpSpPr>
          <p:cNvPr id="17" name="trial-path"/>
          <p:cNvGrpSpPr/>
          <p:nvPr/>
        </p:nvGrpSpPr>
        <p:grpSpPr>
          <a:xfrm>
            <a:off x="781050" y="1984375"/>
            <a:ext cx="10877550" cy="4083050"/>
            <a:chOff x="781050" y="1984375"/>
            <a:chExt cx="10877550" cy="4083050"/>
          </a:xfrm>
        </p:grpSpPr>
        <p:sp>
          <p:nvSpPr>
            <p:cNvPr id="8" name="Line 8"/>
            <p:cNvSpPr/>
            <p:nvPr/>
          </p:nvSpPr>
          <p:spPr>
            <a:xfrm>
              <a:off x="781050" y="2076450"/>
              <a:ext cx="9525" cy="3543300"/>
            </a:xfrm>
            <a:custGeom>
              <a:avLst/>
              <a:gdLst/>
              <a:ahLst/>
              <a:cxnLst/>
              <a:rect l="l" t="t" r="r" b="b"/>
              <a:pathLst>
                <a:path w="9525" h="3543300">
                  <a:moveTo>
                    <a:pt x="0" y="0"/>
                  </a:moveTo>
                  <a:lnTo>
                    <a:pt x="0" y="35433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0432" y="19843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当前原型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0432" y="244157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同一浏览器内，教师、学生、家长、管理四端联动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0432" y="32321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计划试用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0432" y="3689350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授权脱敏音频试跑，再开展教师审核对照与持续反馈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66800" y="4400550"/>
              <a:ext cx="10591800" cy="1666875"/>
            </a:xfrm>
            <a:prstGeom prst="roundRect">
              <a:avLst>
                <a:gd name="adj" fmla="val 1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22832" y="45751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待测指标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2832" y="503237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端到端耗时、转写可读性、证据一致性、教师修改量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5880" y="56324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跨设备共享与正式账号认证尚未接入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alley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closing-title"/>
          <p:cNvGrpSpPr/>
          <p:nvPr/>
        </p:nvGrpSpPr>
        <p:grpSpPr>
          <a:xfrm>
            <a:off x="754380" y="555625"/>
            <a:ext cx="8198358" cy="2371725"/>
            <a:chOff x="754380" y="555625"/>
            <a:chExt cx="8198358" cy="2371725"/>
          </a:xfrm>
        </p:grpSpPr>
        <p:sp>
          <p:nvSpPr>
            <p:cNvPr id="3" name="TextBox 3"/>
            <p:cNvSpPr txBox="1"/>
            <p:nvPr/>
          </p:nvSpPr>
          <p:spPr>
            <a:xfrm>
              <a:off x="754380" y="555625"/>
              <a:ext cx="10463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知野 ZHIYE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44646" y="917575"/>
              <a:ext cx="4902708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700" b="1" dirty="0">
                  <a:solidFill>
                    <a:schemeClr val="accent1"/>
                  </a:solidFill>
                  <a:latin typeface="Arial"/>
                  <a:ea typeface="KaiTi"/>
                  <a:cs typeface="Arial"/>
                </a:rPr>
                <a:t>让每一间课堂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239262" y="1822450"/>
              <a:ext cx="5713476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700" b="1" dirty="0">
                  <a:solidFill>
                    <a:schemeClr val="accent2"/>
                  </a:solidFill>
                  <a:latin typeface="Arial"/>
                  <a:ea typeface="KaiTi"/>
                  <a:cs typeface="Arial"/>
                </a:rPr>
                <a:t>长出自己的回响</a:t>
              </a:r>
            </a:p>
          </p:txBody>
        </p:sp>
      </p:grpSp>
      <p:grpSp>
        <p:nvGrpSpPr>
          <p:cNvPr id="10" name="closing-message"/>
          <p:cNvGrpSpPr/>
          <p:nvPr/>
        </p:nvGrpSpPr>
        <p:grpSpPr>
          <a:xfrm>
            <a:off x="3162300" y="3409950"/>
            <a:ext cx="5867400" cy="1047750"/>
            <a:chOff x="3162300" y="3409950"/>
            <a:chExt cx="5867400" cy="1047750"/>
          </a:xfrm>
        </p:grpSpPr>
        <p:sp>
          <p:nvSpPr>
            <p:cNvPr id="7" name="Rectangle 7"/>
            <p:cNvSpPr/>
            <p:nvPr/>
          </p:nvSpPr>
          <p:spPr>
            <a:xfrm>
              <a:off x="3162300" y="3409950"/>
              <a:ext cx="5867400" cy="104775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350128" y="3575050"/>
              <a:ext cx="34917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承担整理，教师保留判断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79695" y="40227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知其所学，野望生长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zhiye-roadshow">
  <a:themeElements>
    <a:clrScheme name="zhiye-roadshow">
      <a:dk1>
        <a:srgbClr val="294B30"/>
      </a:dk1>
      <a:lt1>
        <a:srgbClr val="F4F7F3"/>
      </a:lt1>
      <a:dk2>
        <a:srgbClr val="1F497D"/>
      </a:dk2>
      <a:lt2>
        <a:srgbClr val="FFFEFA"/>
      </a:lt2>
      <a:accent1>
        <a:srgbClr val="172019"/>
      </a:accent1>
      <a:accent2>
        <a:srgbClr val="526F59"/>
      </a:accent2>
      <a:accent3>
        <a:srgbClr val="C9A660"/>
      </a:accent3>
      <a:accent4>
        <a:srgbClr val="172019"/>
      </a:accent4>
      <a:accent5>
        <a:srgbClr val="56675C"/>
      </a:accent5>
      <a:accent6>
        <a:srgbClr val="DCE8D5"/>
      </a:accent6>
      <a:hlink>
        <a:srgbClr val="526F59"/>
      </a:hlink>
      <a:folHlink>
        <a:srgbClr val="C9A660"/>
      </a:folHlink>
    </a:clrScheme>
    <a:fontScheme name="zhiye-roadshow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hiye-roadsh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zhiye-roadshow">
  <a:themeElements>
    <a:clrScheme name="zhiye-roadshow">
      <a:dk1>
        <a:srgbClr val="294B30"/>
      </a:dk1>
      <a:lt1>
        <a:srgbClr val="F4F7F3"/>
      </a:lt1>
      <a:dk2>
        <a:srgbClr val="1F497D"/>
      </a:dk2>
      <a:lt2>
        <a:srgbClr val="FFFEFA"/>
      </a:lt2>
      <a:accent1>
        <a:srgbClr val="172019"/>
      </a:accent1>
      <a:accent2>
        <a:srgbClr val="526F59"/>
      </a:accent2>
      <a:accent3>
        <a:srgbClr val="C9A660"/>
      </a:accent3>
      <a:accent4>
        <a:srgbClr val="172019"/>
      </a:accent4>
      <a:accent5>
        <a:srgbClr val="56675C"/>
      </a:accent5>
      <a:accent6>
        <a:srgbClr val="DCE8D5"/>
      </a:accent6>
      <a:hlink>
        <a:srgbClr val="526F59"/>
      </a:hlink>
      <a:folHlink>
        <a:srgbClr val="C9A660"/>
      </a:folHlink>
    </a:clrScheme>
    <a:fontScheme name="zhiye-roadshow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hiye-roadsh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2026-10-13T07:09:58Z</dcterms:created>
  <dcterms:modified xsi:type="dcterms:W3CDTF">2026-10-13T07:09:58Z</dcterms:modified>
  <cp:category/>
  <cp:contentStatus/>
</cp:coreProperties>
</file>