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各位评委好，我们的项目叫知野，是面向乡村小学教师的课堂复盘数字员工。它从一节课的记录出发，把内容整理成教师可以审核、学生可以使用的材料，让每一节课成为下一次教学的依据。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具体来看，教师输入课堂录音和补讲目标，系统生成可以继续编辑的教学草稿。学生复习卡承接课堂重点和自检问题，教师课堂报告整理课堂依据与教学建议，还可以衔接补讲教案和练习。页面展示的是当前产品原型。我们的设计重点，是让生成成果真正进入后续教学流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验证方面，项目 Day 08 的历史验收记录显示，一百八十一项前端测试、六十三项本地 AI 测试通过，类型检查和生产构建也通过。测试覆盖了无麦克风或空录音、缺少密钥、空转写和模型网络断开四类失败边界。现有证据支持原型的工程流程与异常边界检查。真实课堂的耗时、教师减负和学习提升仍待验证，我们没有把这些效果写成已经取得的结果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hiye-motion-sample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hiye-motion-sample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9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887fb6604d07465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405079f1a879ba6.jpg"/>
  <Relationship Id="rId3" Type="http://schemas.openxmlformats.org/officeDocument/2006/relationships/image" Target="../media/image_b405079f1a879ba6.jp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ndscape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ky-wa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74000"/>
                </a:schemeClr>
              </a:gs>
              <a:gs pos="68000">
                <a:schemeClr val="lt1">
                  <a:alpha val="58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brand"/>
          <p:cNvGrpSpPr/>
          <p:nvPr/>
        </p:nvGrpSpPr>
        <p:grpSpPr>
          <a:xfrm>
            <a:off x="635508" y="365125"/>
            <a:ext cx="10293477" cy="469392"/>
            <a:chOff x="635508" y="365125"/>
            <a:chExt cx="10293477" cy="469392"/>
          </a:xfrm>
        </p:grpSpPr>
        <p:sp>
          <p:nvSpPr>
            <p:cNvPr id="4" name="TextBox 4"/>
            <p:cNvSpPr txBox="1"/>
            <p:nvPr/>
          </p:nvSpPr>
          <p:spPr>
            <a:xfrm>
              <a:off x="635508" y="3651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423416" y="501650"/>
              <a:ext cx="590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298305" y="4508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</p:grpSp>
      <p:grpSp>
        <p:nvGrpSpPr>
          <p:cNvPr id="10" name="cover-title"/>
          <p:cNvGrpSpPr/>
          <p:nvPr/>
        </p:nvGrpSpPr>
        <p:grpSpPr>
          <a:xfrm>
            <a:off x="628650" y="1085850"/>
            <a:ext cx="8103108" cy="2762250"/>
            <a:chOff x="628650" y="1085850"/>
            <a:chExt cx="8103108" cy="2762250"/>
          </a:xfrm>
        </p:grpSpPr>
        <p:sp>
          <p:nvSpPr>
            <p:cNvPr id="8" name="TextBox 8"/>
            <p:cNvSpPr txBox="1"/>
            <p:nvPr/>
          </p:nvSpPr>
          <p:spPr>
            <a:xfrm>
              <a:off x="628650" y="1085850"/>
              <a:ext cx="6950964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100" dirty="0">
                  <a:solidFill>
                    <a:schemeClr val="accent1"/>
                  </a:solidFill>
                  <a:latin typeface="Ma Shan Zheng"/>
                  <a:ea typeface="KaiTi"/>
                  <a:cs typeface="Ma Shan Zheng"/>
                </a:rPr>
                <a:t>让每一间课堂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8650" y="2286000"/>
              <a:ext cx="8103108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100" dirty="0">
                  <a:solidFill>
                    <a:srgbClr val="3F6B45"/>
                  </a:solidFill>
                  <a:latin typeface="Ma Shan Zheng"/>
                  <a:ea typeface="KaiTi"/>
                  <a:cs typeface="Ma Shan Zheng"/>
                </a:rPr>
                <a:t>长出自己的回响</a:t>
              </a:r>
            </a:p>
          </p:txBody>
        </p:sp>
      </p:grpSp>
      <p:grpSp>
        <p:nvGrpSpPr>
          <p:cNvPr id="13" name="cover-description"/>
          <p:cNvGrpSpPr/>
          <p:nvPr/>
        </p:nvGrpSpPr>
        <p:grpSpPr>
          <a:xfrm>
            <a:off x="712470" y="3816350"/>
            <a:ext cx="4869180" cy="833120"/>
            <a:chOff x="712470" y="3816350"/>
            <a:chExt cx="4869180" cy="833120"/>
          </a:xfrm>
        </p:grpSpPr>
        <p:sp>
          <p:nvSpPr>
            <p:cNvPr id="11" name="TextBox 11"/>
            <p:cNvSpPr txBox="1"/>
            <p:nvPr/>
          </p:nvSpPr>
          <p:spPr>
            <a:xfrm>
              <a:off x="712470" y="3816350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把课堂记录，变成下一次教学的依据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6280" y="4356100"/>
              <a:ext cx="3555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面向乡村小学的 AI 课堂复盘与精准补讲</a:t>
              </a:r>
            </a:p>
          </p:txBody>
        </p:sp>
      </p:grpSp>
      <p:grpSp>
        <p:nvGrpSpPr>
          <p:cNvPr id="15" name="cover-foot"/>
          <p:cNvGrpSpPr/>
          <p:nvPr/>
        </p:nvGrpSpPr>
        <p:grpSpPr>
          <a:xfrm>
            <a:off x="717804" y="6334125"/>
            <a:ext cx="1320698" cy="234696"/>
            <a:chOff x="717804" y="6334125"/>
            <a:chExt cx="1320698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717804" y="6334125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比赛路演 / 5 分钟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55600"/>
            <a:ext cx="10307803" cy="352044"/>
            <a:chOff x="600456" y="355600"/>
            <a:chExt cx="10307803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556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19212" y="438150"/>
              <a:ext cx="483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23729" y="40005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产品成果</a:t>
              </a:r>
            </a:p>
          </p:txBody>
        </p:sp>
      </p:grpSp>
      <p:grpSp>
        <p:nvGrpSpPr>
          <p:cNvPr id="8" name="product-title"/>
          <p:cNvGrpSpPr/>
          <p:nvPr/>
        </p:nvGrpSpPr>
        <p:grpSpPr>
          <a:xfrm>
            <a:off x="590550" y="1111250"/>
            <a:ext cx="3429762" cy="1462913"/>
            <a:chOff x="590550" y="1111250"/>
            <a:chExt cx="3429762" cy="1462913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11125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把一节课，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1312" y="1870075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整理成教学材料</a:t>
              </a:r>
            </a:p>
          </p:txBody>
        </p:sp>
      </p:grpSp>
      <p:grpSp>
        <p:nvGrpSpPr>
          <p:cNvPr id="14" name="input-output"/>
          <p:cNvGrpSpPr/>
          <p:nvPr/>
        </p:nvGrpSpPr>
        <p:grpSpPr>
          <a:xfrm>
            <a:off x="599694" y="3225800"/>
            <a:ext cx="3496056" cy="1463294"/>
            <a:chOff x="599694" y="3225800"/>
            <a:chExt cx="3496056" cy="1463294"/>
          </a:xfrm>
        </p:grpSpPr>
        <p:sp>
          <p:nvSpPr>
            <p:cNvPr id="9" name="TextBox 9"/>
            <p:cNvSpPr txBox="1"/>
            <p:nvPr/>
          </p:nvSpPr>
          <p:spPr>
            <a:xfrm>
              <a:off x="604266" y="3225800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INPUT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444875"/>
              <a:ext cx="24217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课堂录音 + 补讲目标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895725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4266" y="4102100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OUTPUT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433705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复习卡、报告、补讲与练习</a:t>
              </a:r>
            </a:p>
          </p:txBody>
        </p:sp>
      </p:grpSp>
      <p:grpSp>
        <p:nvGrpSpPr>
          <p:cNvPr id="19" name="full-interface"/>
          <p:cNvGrpSpPr/>
          <p:nvPr/>
        </p:nvGrpSpPr>
        <p:grpSpPr>
          <a:xfrm>
            <a:off x="609600" y="4965641"/>
            <a:ext cx="3337560" cy="1346318"/>
            <a:chOff x="609600" y="4965641"/>
            <a:chExt cx="3337560" cy="1346318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965641"/>
              <a:ext cx="2152650" cy="1346318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2964942" y="51022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教师工作台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65704" y="54102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产品界面示例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65704" y="57150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可审核的复盘</a:t>
              </a:r>
            </a:p>
          </p:txBody>
        </p:sp>
      </p:grpSp>
      <p:grpSp>
        <p:nvGrpSpPr>
          <p:cNvPr id="24" name="product-focus"/>
          <p:cNvGrpSpPr/>
          <p:nvPr/>
        </p:nvGrpSpPr>
        <p:grpSpPr>
          <a:xfrm>
            <a:off x="4810125" y="1066800"/>
            <a:ext cx="6848475" cy="5362575"/>
            <a:chOff x="4810125" y="1066800"/>
            <a:chExt cx="6848475" cy="5362575"/>
          </a:xfrm>
        </p:grpSpPr>
        <p:sp>
          <p:nvSpPr>
            <p:cNvPr id="20" name="Rectangle 20"/>
            <p:cNvSpPr/>
            <p:nvPr/>
          </p:nvSpPr>
          <p:spPr>
            <a:xfrm>
              <a:off x="4810125" y="1066800"/>
              <a:ext cx="6848475" cy="5362575"/>
            </a:xfrm>
            <a:prstGeom prst="roundRect">
              <a:avLst>
                <a:gd name="adj" fmla="val 426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45405" y="1279525"/>
              <a:ext cx="2897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初稿可编辑，教师确认后发布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rcRect l="18136" t="13279" r="27373" b="30488"/>
            <a:stretch>
              <a:fillRect/>
            </a:stretch>
          </p:blipFill>
          <p:spPr>
            <a:xfrm>
              <a:off x="5000625" y="1685925"/>
              <a:ext cx="6467475" cy="41719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5145405" y="60515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核对依据 / 修改草稿 / 确认发布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4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84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84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84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6" accel="100000" fill="hold">
                                          <p:stCondLst>
                                            <p:cond delay="38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6" accel="100000" fill="hold">
                                          <p:stCondLst>
                                            <p:cond delay="38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80"/>
                            </p:stCondLst>
                            <p:childTnLst>
                              <p:par>
                                <p:cTn xmlns:p="http://schemas.openxmlformats.org/presentationml/2006/main" id="2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-field"/>
          <p:cNvSpPr/>
          <p:nvPr/>
        </p:nvSpPr>
        <p:spPr>
          <a:xfrm>
            <a:off x="8362950" y="0"/>
            <a:ext cx="382905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verification-brand"/>
          <p:cNvGrpSpPr/>
          <p:nvPr/>
        </p:nvGrpSpPr>
        <p:grpSpPr>
          <a:xfrm>
            <a:off x="600456" y="384175"/>
            <a:ext cx="6669253" cy="352044"/>
            <a:chOff x="600456" y="384175"/>
            <a:chExt cx="6669253" cy="352044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38417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19212" y="457200"/>
              <a:ext cx="483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85179" y="42862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验证结果</a:t>
              </a:r>
            </a:p>
          </p:txBody>
        </p:sp>
      </p:grpSp>
      <p:grpSp>
        <p:nvGrpSpPr>
          <p:cNvPr id="9" name="verification-heading"/>
          <p:cNvGrpSpPr/>
          <p:nvPr/>
        </p:nvGrpSpPr>
        <p:grpSpPr>
          <a:xfrm>
            <a:off x="590550" y="1050925"/>
            <a:ext cx="4238244" cy="1165606"/>
            <a:chOff x="590550" y="1050925"/>
            <a:chExt cx="4238244" cy="1165606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050925"/>
              <a:ext cx="423824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验证，以证据为准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18351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已完成原型工程验收</a:t>
              </a:r>
            </a:p>
          </p:txBody>
        </p:sp>
      </p:grpSp>
      <p:grpSp>
        <p:nvGrpSpPr>
          <p:cNvPr id="12" name="metric-front"/>
          <p:cNvGrpSpPr/>
          <p:nvPr/>
        </p:nvGrpSpPr>
        <p:grpSpPr>
          <a:xfrm>
            <a:off x="590550" y="2590800"/>
            <a:ext cx="2437028" cy="2076450"/>
            <a:chOff x="590550" y="2590800"/>
            <a:chExt cx="2437028" cy="2076450"/>
          </a:xfrm>
        </p:grpSpPr>
        <p:sp>
          <p:nvSpPr>
            <p:cNvPr id="10" name="TextBox 10"/>
            <p:cNvSpPr txBox="1"/>
            <p:nvPr/>
          </p:nvSpPr>
          <p:spPr>
            <a:xfrm>
              <a:off x="590550" y="2590800"/>
              <a:ext cx="2437028" cy="2076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00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181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5894" y="41592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项前端测试通过</a:t>
              </a:r>
            </a:p>
          </p:txBody>
        </p:sp>
      </p:grpSp>
      <p:grpSp>
        <p:nvGrpSpPr>
          <p:cNvPr id="15" name="metric-ai"/>
          <p:cNvGrpSpPr/>
          <p:nvPr/>
        </p:nvGrpSpPr>
        <p:grpSpPr>
          <a:xfrm>
            <a:off x="4419600" y="2590800"/>
            <a:ext cx="2344903" cy="2076450"/>
            <a:chOff x="4419600" y="2590800"/>
            <a:chExt cx="2344903" cy="2076450"/>
          </a:xfrm>
        </p:grpSpPr>
        <p:sp>
          <p:nvSpPr>
            <p:cNvPr id="13" name="TextBox 13"/>
            <p:cNvSpPr txBox="1"/>
            <p:nvPr/>
          </p:nvSpPr>
          <p:spPr>
            <a:xfrm>
              <a:off x="4419600" y="2590800"/>
              <a:ext cx="1637386" cy="2076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4944" y="4159250"/>
              <a:ext cx="22595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项本地 AI 测试通过</a:t>
              </a:r>
            </a:p>
          </p:txBody>
        </p:sp>
      </p:grpSp>
      <p:grpSp>
        <p:nvGrpSpPr>
          <p:cNvPr id="20" name="engineering-scope"/>
          <p:cNvGrpSpPr/>
          <p:nvPr/>
        </p:nvGrpSpPr>
        <p:grpSpPr>
          <a:xfrm>
            <a:off x="600456" y="4857750"/>
            <a:ext cx="7133844" cy="1396746"/>
            <a:chOff x="600456" y="4857750"/>
            <a:chExt cx="7133844" cy="1396746"/>
          </a:xfrm>
        </p:grpSpPr>
        <p:sp>
          <p:nvSpPr>
            <p:cNvPr id="16" name="Line 16"/>
            <p:cNvSpPr/>
            <p:nvPr/>
          </p:nvSpPr>
          <p:spPr>
            <a:xfrm>
              <a:off x="609600" y="48577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456" y="505142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类型检查与生产构建通过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980" y="551815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四类失败边界：空录音、缺密钥、空转写、网络断开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504" y="6019800"/>
              <a:ext cx="3520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 Day 08 历史验收记录，数字为当时测试结果</a:t>
              </a:r>
            </a:p>
          </p:txBody>
        </p:sp>
      </p:grpSp>
      <p:grpSp>
        <p:nvGrpSpPr>
          <p:cNvPr id="29" name="field-validation"/>
          <p:cNvGrpSpPr/>
          <p:nvPr/>
        </p:nvGrpSpPr>
        <p:grpSpPr>
          <a:xfrm>
            <a:off x="8727948" y="942975"/>
            <a:ext cx="2854452" cy="5068570"/>
            <a:chOff x="8727948" y="942975"/>
            <a:chExt cx="2854452" cy="5068570"/>
          </a:xfrm>
        </p:grpSpPr>
        <p:sp>
          <p:nvSpPr>
            <p:cNvPr id="21" name="TextBox 21"/>
            <p:cNvSpPr txBox="1"/>
            <p:nvPr/>
          </p:nvSpPr>
          <p:spPr>
            <a:xfrm>
              <a:off x="8737854" y="942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下一阶段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27948" y="1600200"/>
              <a:ext cx="1632204" cy="1124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01"/>
                </a:lnSpc>
              </a:pP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真实课堂</a:t>
              </a:r>
              <a:b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效果验证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743950" y="2847975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33282" y="30892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端到端耗时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34806" y="374650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教师审核与修改量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33282" y="43275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持续学习反馈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36330" y="53371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目前尚无课堂成效数据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36330" y="57181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计划通过教师试用检验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8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6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2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zhiye-motion-samples">
  <a:themeElements>
    <a:clrScheme name="zhiye-motion-samples">
      <a:dk1>
        <a:srgbClr val="294B30"/>
      </a:dk1>
      <a:lt1>
        <a:srgbClr val="F4F7F3"/>
      </a:lt1>
      <a:dk2>
        <a:srgbClr val="1F497D"/>
      </a:dk2>
      <a:lt2>
        <a:srgbClr val="FFFEFA"/>
      </a:lt2>
      <a:accent1>
        <a:srgbClr val="172019"/>
      </a:accent1>
      <a:accent2>
        <a:srgbClr val="526F59"/>
      </a:accent2>
      <a:accent3>
        <a:srgbClr val="C9A660"/>
      </a:accent3>
      <a:accent4>
        <a:srgbClr val="172019"/>
      </a:accent4>
      <a:accent5>
        <a:srgbClr val="56675C"/>
      </a:accent5>
      <a:accent6>
        <a:srgbClr val="DCE8D5"/>
      </a:accent6>
      <a:hlink>
        <a:srgbClr val="526F59"/>
      </a:hlink>
      <a:folHlink>
        <a:srgbClr val="C9A660"/>
      </a:folHlink>
    </a:clrScheme>
    <a:fontScheme name="zhiye-motion-sample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ye-motion-samp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zhiye-motion-samples">
  <a:themeElements>
    <a:clrScheme name="zhiye-motion-samples">
      <a:dk1>
        <a:srgbClr val="294B30"/>
      </a:dk1>
      <a:lt1>
        <a:srgbClr val="F4F7F3"/>
      </a:lt1>
      <a:dk2>
        <a:srgbClr val="1F497D"/>
      </a:dk2>
      <a:lt2>
        <a:srgbClr val="FFFEFA"/>
      </a:lt2>
      <a:accent1>
        <a:srgbClr val="172019"/>
      </a:accent1>
      <a:accent2>
        <a:srgbClr val="526F59"/>
      </a:accent2>
      <a:accent3>
        <a:srgbClr val="C9A660"/>
      </a:accent3>
      <a:accent4>
        <a:srgbClr val="172019"/>
      </a:accent4>
      <a:accent5>
        <a:srgbClr val="56675C"/>
      </a:accent5>
      <a:accent6>
        <a:srgbClr val="DCE8D5"/>
      </a:accent6>
      <a:hlink>
        <a:srgbClr val="526F59"/>
      </a:hlink>
      <a:folHlink>
        <a:srgbClr val="C9A660"/>
      </a:folHlink>
    </a:clrScheme>
    <a:fontScheme name="zhiye-motion-sample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ye-motion-samp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2026-10-13T07:36:04Z</dcterms:created>
  <dcterms:modified xsi:type="dcterms:W3CDTF">2026-10-13T07:36:04Z</dcterms:modified>
  <cp:category/>
  <cp:contentStatus/>
</cp:coreProperties>
</file>